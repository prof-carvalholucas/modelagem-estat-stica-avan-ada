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266"/>
  </p:notesMasterIdLst>
  <p:sldIdLst>
    <p:sldId id="256" r:id="rId2"/>
    <p:sldId id="528" r:id="rId3"/>
    <p:sldId id="520" r:id="rId4"/>
    <p:sldId id="523" r:id="rId5"/>
    <p:sldId id="522" r:id="rId6"/>
    <p:sldId id="259" r:id="rId7"/>
    <p:sldId id="524" r:id="rId8"/>
    <p:sldId id="519" r:id="rId9"/>
    <p:sldId id="525" r:id="rId10"/>
    <p:sldId id="258" r:id="rId11"/>
    <p:sldId id="262" r:id="rId12"/>
    <p:sldId id="526" r:id="rId13"/>
    <p:sldId id="527" r:id="rId14"/>
    <p:sldId id="517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  <p:sldId id="399" r:id="rId148"/>
    <p:sldId id="400" r:id="rId149"/>
    <p:sldId id="401" r:id="rId150"/>
    <p:sldId id="402" r:id="rId151"/>
    <p:sldId id="403" r:id="rId152"/>
    <p:sldId id="404" r:id="rId153"/>
    <p:sldId id="405" r:id="rId154"/>
    <p:sldId id="406" r:id="rId155"/>
    <p:sldId id="407" r:id="rId156"/>
    <p:sldId id="408" r:id="rId157"/>
    <p:sldId id="409" r:id="rId158"/>
    <p:sldId id="410" r:id="rId159"/>
    <p:sldId id="411" r:id="rId160"/>
    <p:sldId id="412" r:id="rId161"/>
    <p:sldId id="413" r:id="rId162"/>
    <p:sldId id="414" r:id="rId163"/>
    <p:sldId id="415" r:id="rId164"/>
    <p:sldId id="416" r:id="rId165"/>
    <p:sldId id="417" r:id="rId166"/>
    <p:sldId id="418" r:id="rId167"/>
    <p:sldId id="419" r:id="rId168"/>
    <p:sldId id="420" r:id="rId169"/>
    <p:sldId id="421" r:id="rId170"/>
    <p:sldId id="422" r:id="rId171"/>
    <p:sldId id="423" r:id="rId172"/>
    <p:sldId id="424" r:id="rId173"/>
    <p:sldId id="425" r:id="rId174"/>
    <p:sldId id="426" r:id="rId175"/>
    <p:sldId id="427" r:id="rId176"/>
    <p:sldId id="428" r:id="rId177"/>
    <p:sldId id="429" r:id="rId178"/>
    <p:sldId id="430" r:id="rId179"/>
    <p:sldId id="431" r:id="rId180"/>
    <p:sldId id="432" r:id="rId181"/>
    <p:sldId id="433" r:id="rId182"/>
    <p:sldId id="434" r:id="rId183"/>
    <p:sldId id="435" r:id="rId184"/>
    <p:sldId id="436" r:id="rId185"/>
    <p:sldId id="437" r:id="rId186"/>
    <p:sldId id="438" r:id="rId187"/>
    <p:sldId id="439" r:id="rId188"/>
    <p:sldId id="440" r:id="rId189"/>
    <p:sldId id="441" r:id="rId190"/>
    <p:sldId id="442" r:id="rId191"/>
    <p:sldId id="443" r:id="rId192"/>
    <p:sldId id="444" r:id="rId193"/>
    <p:sldId id="445" r:id="rId194"/>
    <p:sldId id="446" r:id="rId195"/>
    <p:sldId id="447" r:id="rId196"/>
    <p:sldId id="448" r:id="rId197"/>
    <p:sldId id="449" r:id="rId198"/>
    <p:sldId id="450" r:id="rId199"/>
    <p:sldId id="451" r:id="rId200"/>
    <p:sldId id="452" r:id="rId201"/>
    <p:sldId id="453" r:id="rId202"/>
    <p:sldId id="454" r:id="rId203"/>
    <p:sldId id="455" r:id="rId204"/>
    <p:sldId id="456" r:id="rId205"/>
    <p:sldId id="457" r:id="rId206"/>
    <p:sldId id="458" r:id="rId207"/>
    <p:sldId id="459" r:id="rId208"/>
    <p:sldId id="460" r:id="rId209"/>
    <p:sldId id="461" r:id="rId210"/>
    <p:sldId id="462" r:id="rId211"/>
    <p:sldId id="463" r:id="rId212"/>
    <p:sldId id="464" r:id="rId213"/>
    <p:sldId id="465" r:id="rId214"/>
    <p:sldId id="466" r:id="rId215"/>
    <p:sldId id="467" r:id="rId216"/>
    <p:sldId id="468" r:id="rId217"/>
    <p:sldId id="469" r:id="rId218"/>
    <p:sldId id="470" r:id="rId219"/>
    <p:sldId id="471" r:id="rId220"/>
    <p:sldId id="472" r:id="rId221"/>
    <p:sldId id="473" r:id="rId222"/>
    <p:sldId id="474" r:id="rId223"/>
    <p:sldId id="475" r:id="rId224"/>
    <p:sldId id="476" r:id="rId225"/>
    <p:sldId id="477" r:id="rId226"/>
    <p:sldId id="478" r:id="rId227"/>
    <p:sldId id="479" r:id="rId228"/>
    <p:sldId id="480" r:id="rId229"/>
    <p:sldId id="481" r:id="rId230"/>
    <p:sldId id="482" r:id="rId231"/>
    <p:sldId id="483" r:id="rId232"/>
    <p:sldId id="484" r:id="rId233"/>
    <p:sldId id="485" r:id="rId234"/>
    <p:sldId id="486" r:id="rId235"/>
    <p:sldId id="487" r:id="rId236"/>
    <p:sldId id="488" r:id="rId237"/>
    <p:sldId id="489" r:id="rId238"/>
    <p:sldId id="490" r:id="rId239"/>
    <p:sldId id="491" r:id="rId240"/>
    <p:sldId id="492" r:id="rId241"/>
    <p:sldId id="493" r:id="rId242"/>
    <p:sldId id="494" r:id="rId243"/>
    <p:sldId id="495" r:id="rId244"/>
    <p:sldId id="496" r:id="rId245"/>
    <p:sldId id="497" r:id="rId246"/>
    <p:sldId id="498" r:id="rId247"/>
    <p:sldId id="499" r:id="rId248"/>
    <p:sldId id="500" r:id="rId249"/>
    <p:sldId id="501" r:id="rId250"/>
    <p:sldId id="502" r:id="rId251"/>
    <p:sldId id="503" r:id="rId252"/>
    <p:sldId id="504" r:id="rId253"/>
    <p:sldId id="505" r:id="rId254"/>
    <p:sldId id="506" r:id="rId255"/>
    <p:sldId id="507" r:id="rId256"/>
    <p:sldId id="508" r:id="rId257"/>
    <p:sldId id="509" r:id="rId258"/>
    <p:sldId id="510" r:id="rId259"/>
    <p:sldId id="511" r:id="rId260"/>
    <p:sldId id="512" r:id="rId261"/>
    <p:sldId id="513" r:id="rId262"/>
    <p:sldId id="514" r:id="rId263"/>
    <p:sldId id="515" r:id="rId264"/>
    <p:sldId id="516" r:id="rId2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973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58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68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270" Type="http://schemas.openxmlformats.org/officeDocument/2006/relationships/tableStyles" Target="tableStyle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slide" Target="slides/slide243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65" Type="http://schemas.openxmlformats.org/officeDocument/2006/relationships/slide" Target="slides/slide264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slide" Target="slides/slide249.xml"/><Relationship Id="rId255" Type="http://schemas.openxmlformats.org/officeDocument/2006/relationships/slide" Target="slides/slide254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slide" Target="slides/slide244.xml"/><Relationship Id="rId261" Type="http://schemas.openxmlformats.org/officeDocument/2006/relationships/slide" Target="slides/slide260.xml"/><Relationship Id="rId266" Type="http://schemas.openxmlformats.org/officeDocument/2006/relationships/notesMaster" Target="notesMasters/notesMaster1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1" Type="http://schemas.openxmlformats.org/officeDocument/2006/relationships/slide" Target="slides/slide250.xml"/><Relationship Id="rId256" Type="http://schemas.openxmlformats.org/officeDocument/2006/relationships/slide" Target="slides/slide255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slide" Target="slides/slide245.xml"/><Relationship Id="rId267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262" Type="http://schemas.openxmlformats.org/officeDocument/2006/relationships/slide" Target="slides/slide26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95F05-7DEC-498D-B663-81E9B1F6BC6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276C6-3476-4838-AD2E-9B43791A57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340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276C6-3476-4838-AD2E-9B43791A5747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000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63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6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6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5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0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69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6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31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4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98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9714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43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13110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72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85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6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5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285390"/>
            <a:ext cx="12191695" cy="57261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5089" y="1038687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 err="1">
                <a:latin typeface="Calibri"/>
              </a:rPr>
              <a:t>Modelagem</a:t>
            </a:r>
            <a:r>
              <a:rPr sz="4000" b="1" dirty="0">
                <a:latin typeface="Calibri"/>
              </a:rPr>
              <a:t> </a:t>
            </a:r>
            <a:r>
              <a:rPr sz="4000" b="1" dirty="0" err="1">
                <a:latin typeface="Calibri"/>
              </a:rPr>
              <a:t>Estatística</a:t>
            </a:r>
            <a:r>
              <a:rPr sz="4000" b="1" dirty="0">
                <a:latin typeface="Calibri"/>
              </a:rPr>
              <a:t> </a:t>
            </a:r>
            <a:r>
              <a:rPr sz="4000" b="1" dirty="0" err="1">
                <a:latin typeface="Calibri"/>
              </a:rPr>
              <a:t>Avançada</a:t>
            </a:r>
            <a:endParaRPr sz="4000" b="1" dirty="0"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47130" y="3088555"/>
            <a:ext cx="69423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latin typeface="Calibri"/>
              </a:rPr>
              <a:t>Fundamentos</a:t>
            </a:r>
            <a:r>
              <a:rPr sz="2200" b="1" dirty="0">
                <a:latin typeface="Calibri"/>
              </a:rPr>
              <a:t> de R e </a:t>
            </a:r>
            <a:r>
              <a:rPr sz="2200" b="1" dirty="0" err="1">
                <a:latin typeface="Calibri"/>
              </a:rPr>
              <a:t>Preparação</a:t>
            </a:r>
            <a:r>
              <a:rPr sz="2200" b="1" dirty="0">
                <a:latin typeface="Calibri"/>
              </a:rPr>
              <a:t> do </a:t>
            </a:r>
            <a:r>
              <a:rPr sz="2200" b="1" dirty="0" err="1">
                <a:latin typeface="Calibri"/>
              </a:rPr>
              <a:t>Ambiente</a:t>
            </a:r>
            <a:r>
              <a:rPr sz="2200" b="1" dirty="0">
                <a:latin typeface="Calibri"/>
              </a:rPr>
              <a:t> R/RStudio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089" y="4733139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latin typeface="Calibri"/>
              </a:rPr>
              <a:t>Prof. Lucas Carvalho  -  </a:t>
            </a:r>
            <a:r>
              <a:rPr sz="1600" b="1" dirty="0" err="1">
                <a:latin typeface="Calibri"/>
              </a:rPr>
              <a:t>UniEVANGÉLICA</a:t>
            </a:r>
            <a:r>
              <a:rPr sz="1600" b="1" dirty="0">
                <a:latin typeface="Calibri"/>
              </a:rPr>
              <a:t>  ·  2026.2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3A5C"/>
                </a:solidFill>
                <a:latin typeface="Calibri"/>
              </a:rPr>
              <a:t>Objetivos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Ao final desta aula, você será capaz 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2788920" cy="22860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2788920" cy="1097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_obj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536192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22860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5C"/>
                </a:solidFill>
                <a:latin typeface="Calibri"/>
              </a:rPr>
              <a:t>Preparar o computador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Instalar e configurar R e RStudio para as atividades do curso.</a:t>
            </a:r>
          </a:p>
        </p:txBody>
      </p:sp>
      <p:pic>
        <p:nvPicPr>
          <p:cNvPr id="12" name="Picture 11" descr="icon_R_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154679"/>
            <a:ext cx="347472" cy="347472"/>
          </a:xfrm>
          <a:prstGeom prst="rect">
            <a:avLst/>
          </a:prstGeom>
        </p:spPr>
      </p:pic>
      <p:pic>
        <p:nvPicPr>
          <p:cNvPr id="13" name="Picture 12" descr="icon_RS_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39" y="3154679"/>
            <a:ext cx="347472" cy="3474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383280" y="1280160"/>
            <a:ext cx="2788920" cy="22860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1280160"/>
            <a:ext cx="2788920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on_obj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36192"/>
            <a:ext cx="64008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97580" y="219913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5C"/>
                </a:solidFill>
                <a:latin typeface="Calibri"/>
              </a:rPr>
              <a:t>R × RStudio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00403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 err="1">
                <a:solidFill>
                  <a:srgbClr val="1E293B"/>
                </a:solidFill>
                <a:latin typeface="Calibri"/>
              </a:rPr>
              <a:t>Compreender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diferença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: R é o motor; RStudio é a IDE.</a:t>
            </a:r>
          </a:p>
        </p:txBody>
      </p:sp>
      <p:pic>
        <p:nvPicPr>
          <p:cNvPr id="19" name="Picture 18" descr="icon_R_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154679"/>
            <a:ext cx="347472" cy="347472"/>
          </a:xfrm>
          <a:prstGeom prst="rect">
            <a:avLst/>
          </a:prstGeom>
        </p:spPr>
      </p:pic>
      <p:pic>
        <p:nvPicPr>
          <p:cNvPr id="20" name="Picture 19" descr="icon_RS_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154679"/>
            <a:ext cx="347472" cy="34747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55080" y="1280160"/>
            <a:ext cx="2788920" cy="22860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1280160"/>
            <a:ext cx="2788920" cy="109728"/>
          </a:xfrm>
          <a:prstGeom prst="rect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n_obj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536192"/>
            <a:ext cx="640080" cy="640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22860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5C"/>
                </a:solidFill>
                <a:latin typeface="Calibri"/>
              </a:rPr>
              <a:t>Primeiros comandos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6974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Executar comandos no Console com segurança e confiança.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794760"/>
            <a:ext cx="2788920" cy="22860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3794760"/>
            <a:ext cx="278892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_obj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4050792"/>
            <a:ext cx="640080" cy="6400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4800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5C"/>
                </a:solidFill>
                <a:latin typeface="Calibri"/>
              </a:rPr>
              <a:t>Fundamentos de 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120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Aprender a base da linguagem para avançar nas análises.</a:t>
            </a:r>
          </a:p>
        </p:txBody>
      </p:sp>
      <p:pic>
        <p:nvPicPr>
          <p:cNvPr id="31" name="Picture 30" descr="icon_R_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669280"/>
            <a:ext cx="347472" cy="34747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383280" y="3794760"/>
            <a:ext cx="2788920" cy="22860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83280" y="3794760"/>
            <a:ext cx="27889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con_obj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4050792"/>
            <a:ext cx="640080" cy="6400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520440" y="4800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5C"/>
                </a:solidFill>
                <a:latin typeface="Calibri"/>
              </a:rPr>
              <a:t>Caminho para modelagem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2120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Chegar preparado(a) para manipulação, visualização e modelagem estatística.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3794760"/>
            <a:ext cx="2788920" cy="2286000"/>
          </a:xfrm>
          <a:prstGeom prst="roundRect">
            <a:avLst/>
          </a:prstGeom>
          <a:solidFill>
            <a:srgbClr val="EE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55080" y="3794760"/>
            <a:ext cx="2788920" cy="109728"/>
          </a:xfrm>
          <a:prstGeom prst="rect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1148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9E2E"/>
                </a:solidFill>
                <a:latin typeface="Calibri"/>
              </a:rPr>
              <a:t>Dica da aula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6177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alibri"/>
              </a:rPr>
              <a:t>Pratique no RStudio enquanto acompanha os slides. Ver → fazer → compreender.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640079" y="2148840"/>
            <a:ext cx="2342817" cy="438912"/>
          </a:xfrm>
          <a:prstGeom prst="roundRect">
            <a:avLst/>
          </a:prstGeom>
          <a:solidFill>
            <a:srgbClr val="A8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BLOCO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059" y="27432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11827"/>
                </a:solidFill>
                <a:latin typeface="Calibri"/>
              </a:rPr>
              <a:t>Preparação</a:t>
            </a:r>
            <a:r>
              <a:rPr sz="4000" b="1" dirty="0">
                <a:solidFill>
                  <a:srgbClr val="111827"/>
                </a:solidFill>
                <a:latin typeface="Calibri"/>
              </a:rPr>
              <a:t> do </a:t>
            </a:r>
            <a:r>
              <a:rPr sz="4000" b="1" dirty="0" err="1">
                <a:solidFill>
                  <a:srgbClr val="111827"/>
                </a:solidFill>
                <a:latin typeface="Calibri"/>
              </a:rPr>
              <a:t>ambiente</a:t>
            </a:r>
            <a:endParaRPr sz="40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9059" y="3601671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B5563"/>
                </a:solidFill>
                <a:latin typeface="Calibri"/>
              </a:rPr>
              <a:t>O que é R, o que é RStudio, download e </a:t>
            </a:r>
            <a:r>
              <a:rPr sz="2000" b="0" dirty="0" err="1">
                <a:solidFill>
                  <a:srgbClr val="4B5563"/>
                </a:solidFill>
                <a:latin typeface="Calibri"/>
              </a:rPr>
              <a:t>instalação</a:t>
            </a:r>
            <a:r>
              <a:rPr sz="2000" b="0" dirty="0">
                <a:solidFill>
                  <a:srgbClr val="4B5563"/>
                </a:solidFill>
                <a:latin typeface="Calibri"/>
              </a:rPr>
              <a:t>,
Console e </a:t>
            </a:r>
            <a:r>
              <a:rPr sz="2000" b="0" dirty="0" err="1">
                <a:solidFill>
                  <a:srgbClr val="4B5563"/>
                </a:solidFill>
                <a:latin typeface="Calibri"/>
              </a:rPr>
              <a:t>pacotes</a:t>
            </a:r>
            <a:r>
              <a:rPr sz="2000" b="0" dirty="0">
                <a:solidFill>
                  <a:srgbClr val="4B5563"/>
                </a:solidFill>
                <a:latin typeface="Calibri"/>
              </a:rPr>
              <a:t> do </a:t>
            </a:r>
            <a:r>
              <a:rPr sz="2000" b="0" dirty="0" err="1">
                <a:solidFill>
                  <a:srgbClr val="4B5563"/>
                </a:solidFill>
                <a:latin typeface="Calibri"/>
              </a:rPr>
              <a:t>curso</a:t>
            </a:r>
            <a:endParaRPr sz="2000" b="0" dirty="0">
              <a:solidFill>
                <a:srgbClr val="4B5563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6B6B"/>
                </a:solidFill>
                <a:latin typeface="Calibri"/>
              </a:rPr>
              <a:t>Objetivo: deixar o computador pronto para as aulas de Modelagem Estatística.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green_side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-45720"/>
            <a:ext cx="2697480" cy="6949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3A5C"/>
                </a:solidFill>
                <a:latin typeface="Calibri"/>
              </a:rPr>
              <a:t>Requisitos mínimos recomendados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Verifique o computador antes de instalar o R e o RStudio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43200" cy="21945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743200" cy="1097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08760" y="1691640"/>
            <a:ext cx="640080" cy="6400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5C"/>
                </a:solidFill>
                <a:latin typeface="Calibri"/>
              </a:rPr>
              <a:t>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Windows 10/11 64 bits,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macOS ou Linux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743200" cy="21945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743200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34840" y="1691640"/>
            <a:ext cx="640080" cy="64008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5C"/>
                </a:solidFill>
                <a:latin typeface="Calibri"/>
              </a:rPr>
              <a:t>Processador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2 núcleos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ou superior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2743200" cy="21945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371600"/>
            <a:ext cx="2743200" cy="109728"/>
          </a:xfrm>
          <a:prstGeom prst="rect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60920" y="1691640"/>
            <a:ext cx="640080" cy="640080"/>
          </a:xfrm>
          <a:prstGeom prst="ellipse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5C"/>
                </a:solidFill>
                <a:latin typeface="Calibri"/>
              </a:rPr>
              <a:t>Memória 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4 GB mínimo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8 GB recomendado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2743200" cy="21945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274320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508760" y="4160520"/>
            <a:ext cx="640080" cy="6400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937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5C"/>
                </a:solidFill>
                <a:latin typeface="Calibri"/>
              </a:rPr>
              <a:t>Armazenamento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Pelo menos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5 GB livres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40480"/>
            <a:ext cx="2743200" cy="21945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83280" y="3840480"/>
            <a:ext cx="2743200" cy="109728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434840" y="4160520"/>
            <a:ext cx="640080" cy="6400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5C"/>
                </a:solidFill>
                <a:latin typeface="Calibri"/>
              </a:rPr>
              <a:t>Internet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Para instalar R,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RStudio e pacotes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840480"/>
            <a:ext cx="2743200" cy="21945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840480"/>
            <a:ext cx="2743200" cy="1097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360920" y="4160520"/>
            <a:ext cx="640080" cy="6400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937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5C"/>
                </a:solidFill>
                <a:latin typeface="Calibri"/>
              </a:rPr>
              <a:t>Navegador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Chrome, Edge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ou Firefox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9692640" y="-274320"/>
            <a:ext cx="2926080" cy="2926080"/>
          </a:xfrm>
          <a:prstGeom prst="rtTriangle">
            <a:avLst/>
          </a:prstGeom>
          <a:solidFill>
            <a:srgbClr val="A8D05A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10241280" y="1097280"/>
            <a:ext cx="2560320" cy="2560320"/>
          </a:xfrm>
          <a:prstGeom prst="rtTriangle">
            <a:avLst/>
          </a:prstGeom>
          <a:solidFill>
            <a:srgbClr val="7CB342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9509760" y="2560320"/>
            <a:ext cx="3200400" cy="3200400"/>
          </a:xfrm>
          <a:prstGeom prst="rtTriangle">
            <a:avLst/>
          </a:prstGeom>
          <a:solidFill>
            <a:srgbClr val="5A9E2E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515600" y="4114800"/>
            <a:ext cx="2377440" cy="2377440"/>
          </a:xfrm>
          <a:prstGeom prst="rtTriangle">
            <a:avLst/>
          </a:prstGeom>
          <a:solidFill>
            <a:srgbClr val="8FC448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Triangle 5"/>
          <p:cNvSpPr/>
          <p:nvPr/>
        </p:nvSpPr>
        <p:spPr>
          <a:xfrm>
            <a:off x="9875520" y="5029200"/>
            <a:ext cx="2743200" cy="2286000"/>
          </a:xfrm>
          <a:prstGeom prst="rtTriangle">
            <a:avLst/>
          </a:prstGeom>
          <a:solidFill>
            <a:srgbClr val="7CB342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>
            <a:off x="10789920" y="182880"/>
            <a:ext cx="1828800" cy="2286000"/>
          </a:xfrm>
          <a:prstGeom prst="triangle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sosceles Triangle 7"/>
          <p:cNvSpPr/>
          <p:nvPr/>
        </p:nvSpPr>
        <p:spPr>
          <a:xfrm>
            <a:off x="9326880" y="3474720"/>
            <a:ext cx="2011680" cy="2560320"/>
          </a:xfrm>
          <a:prstGeom prst="triangle">
            <a:avLst/>
          </a:prstGeom>
          <a:solidFill>
            <a:srgbClr val="A8D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>
            <a:off x="10972800" y="2743200"/>
            <a:ext cx="1645920" cy="2011680"/>
          </a:xfrm>
          <a:prstGeom prst="triangle">
            <a:avLst/>
          </a:prstGeom>
          <a:solidFill>
            <a:srgbClr val="8FC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3A5C"/>
                </a:solidFill>
                <a:latin typeface="Calibri"/>
              </a:rPr>
              <a:t>Download do R e do RStudio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22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5C26"/>
                </a:solidFill>
                <a:latin typeface="Calibri"/>
              </a:rPr>
              <a:t>Instale nesta ordem: primeiro o R, depois o RStudio Desktop.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5212080" cy="4846320"/>
          </a:xfrm>
          <a:prstGeom prst="round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371600"/>
            <a:ext cx="5212080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1º  —  Baixar o R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2194560"/>
            <a:ext cx="365760" cy="36576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1945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Acesse: cran.r-project.org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880360"/>
            <a:ext cx="365760" cy="36576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8803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Escolha o seu sistema (Windows, macOS ou Linux)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566160"/>
            <a:ext cx="365760" cy="36576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661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Baixe a versão mais recente do R base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251960"/>
            <a:ext cx="365760" cy="36576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519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Execute o instalador e aceite as opções padrão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937760"/>
            <a:ext cx="365760" cy="36576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937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Ao terminar, o R estará instalado no computador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1371600"/>
            <a:ext cx="5212080" cy="4846320"/>
          </a:xfrm>
          <a:prstGeom prst="round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0" y="1371600"/>
            <a:ext cx="5212080" cy="64008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2º  —  Baixar o RStudio</a:t>
            </a:r>
          </a:p>
        </p:txBody>
      </p:sp>
      <p:sp>
        <p:nvSpPr>
          <p:cNvPr id="29" name="Oval 28"/>
          <p:cNvSpPr/>
          <p:nvPr/>
        </p:nvSpPr>
        <p:spPr>
          <a:xfrm>
            <a:off x="6172200" y="2194560"/>
            <a:ext cx="365760" cy="36576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1945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Acesse: posit.co/download/rstudio-desktop/</a:t>
            </a:r>
          </a:p>
        </p:txBody>
      </p:sp>
      <p:sp>
        <p:nvSpPr>
          <p:cNvPr id="31" name="Oval 30"/>
          <p:cNvSpPr/>
          <p:nvPr/>
        </p:nvSpPr>
        <p:spPr>
          <a:xfrm>
            <a:off x="6172200" y="2880360"/>
            <a:ext cx="365760" cy="36576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8803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Baixe o RStudio Desktop (versão gratuita)</a:t>
            </a:r>
          </a:p>
        </p:txBody>
      </p:sp>
      <p:sp>
        <p:nvSpPr>
          <p:cNvPr id="33" name="Oval 32"/>
          <p:cNvSpPr/>
          <p:nvPr/>
        </p:nvSpPr>
        <p:spPr>
          <a:xfrm>
            <a:off x="6172200" y="3566160"/>
            <a:ext cx="365760" cy="36576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5661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Execute o instalador do RStudio</a:t>
            </a:r>
          </a:p>
        </p:txBody>
      </p:sp>
      <p:sp>
        <p:nvSpPr>
          <p:cNvPr id="35" name="Oval 34"/>
          <p:cNvSpPr/>
          <p:nvPr/>
        </p:nvSpPr>
        <p:spPr>
          <a:xfrm>
            <a:off x="6172200" y="4251960"/>
            <a:ext cx="365760" cy="36576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2519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Abra o RStudio — ele deve localizar o R</a:t>
            </a:r>
          </a:p>
        </p:txBody>
      </p:sp>
      <p:sp>
        <p:nvSpPr>
          <p:cNvPr id="37" name="Oval 36"/>
          <p:cNvSpPr/>
          <p:nvPr/>
        </p:nvSpPr>
        <p:spPr>
          <a:xfrm>
            <a:off x="6172200" y="4937760"/>
            <a:ext cx="365760" cy="36576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937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Teste no Console:  10 + 20   (deve retornar 30)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green_side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-45720"/>
            <a:ext cx="2697480" cy="6949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3A5C"/>
                </a:solidFill>
                <a:latin typeface="Calibri"/>
              </a:rPr>
              <a:t>Ordem correta de instalação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Siga os 5 passos nesta sequência — não inverta R e RStudio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7090" y="1417320"/>
            <a:ext cx="1691640" cy="42062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7090" y="1417320"/>
            <a:ext cx="169164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0010" y="2423160"/>
            <a:ext cx="640080" cy="6400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242" y="161848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Instalar o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530" y="324612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Primeiro o motor.</a:t>
            </a:r>
          </a:p>
          <a:p>
            <a:pPr algn="ctr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O RStudio depende do 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337560"/>
            <a:ext cx="193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5A9E2E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0488" y="1417320"/>
            <a:ext cx="1618488" cy="42062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12848" y="1417320"/>
            <a:ext cx="1691640" cy="8229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80256" y="2423160"/>
            <a:ext cx="640080" cy="64008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0488" y="161848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Instalar o RStudio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8776" y="324612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Depois a IDE.</a:t>
            </a:r>
          </a:p>
          <a:p>
            <a:pPr algn="ctr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Baixe o Desktop gratuito.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3337560"/>
            <a:ext cx="119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5A9E2E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14216" y="1417320"/>
            <a:ext cx="1691640" cy="42062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014216" y="1417320"/>
            <a:ext cx="1691640" cy="822960"/>
          </a:xfrm>
          <a:prstGeom prst="rect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17136" y="2423160"/>
            <a:ext cx="640080" cy="640080"/>
          </a:xfrm>
          <a:prstGeom prst="ellipse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8" y="161848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Abrir o RStudio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5656" y="324612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Ele deve localizar</a:t>
            </a:r>
          </a:p>
          <a:p>
            <a:pPr algn="ctr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automaticamente o 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0136" y="333756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5A9E2E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5584" y="1417320"/>
            <a:ext cx="1691640" cy="42062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15584" y="1417320"/>
            <a:ext cx="1691640" cy="822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18504" y="2423160"/>
            <a:ext cx="640080" cy="6400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88736" y="161848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Testar o Console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7024" y="324612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Ex.: 10 + 20</a:t>
            </a:r>
          </a:p>
          <a:p>
            <a:pPr algn="ctr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Deve retornar 30.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3375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5A9E2E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16952" y="1417320"/>
            <a:ext cx="1691640" cy="42062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16952" y="1417320"/>
            <a:ext cx="1691640" cy="8229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119872" y="2423160"/>
            <a:ext cx="640080" cy="6400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0104" y="161848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Instalar pacotes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324612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ggplot2, dplyr, car,</a:t>
            </a:r>
          </a:p>
          <a:p>
            <a:pPr algn="ctr">
              <a:spcBef>
                <a:spcPts val="3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lmtest, etc.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5852160"/>
            <a:ext cx="8869680" cy="640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5C26"/>
                </a:solidFill>
                <a:latin typeface="Calibri"/>
              </a:rPr>
              <a:t>Importante: RStudio NÃO é o R. O R é o motor; o RStudio é a interface (IDE).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green_side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-45720"/>
            <a:ext cx="2697480" cy="6949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3A5C"/>
                </a:solidFill>
                <a:latin typeface="Calibri"/>
              </a:rPr>
              <a:t>O que é o 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Linguagem + ambiente para estatística e ciência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8869680" cy="9144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" cy="914400"/>
          </a:xfrm>
          <a:prstGeom prst="rect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1508760"/>
            <a:ext cx="530352" cy="530352"/>
          </a:xfrm>
          <a:prstGeom prst="ellipse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173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Linguagem e ambiente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6479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R é uma linguagem de programação e um ambiente estatístico.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8869680" cy="9144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" cy="9144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2514600"/>
            <a:ext cx="530352" cy="530352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231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Para que serve?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7063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Análise de dados, estatística, visualização e modelagem.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37560"/>
            <a:ext cx="8869680" cy="9144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337560"/>
            <a:ext cx="109728" cy="9144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3520440"/>
            <a:ext cx="530352" cy="530352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290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Neste curso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7647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Regressão linear múltipla, ANOVA, ANCOVA e outros modelos.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43400"/>
            <a:ext cx="8869680" cy="9144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109728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520" y="4526280"/>
            <a:ext cx="530352" cy="53035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34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Com a Estatística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8231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Ferramenta para estimar, diagnosticar e interpretar modelos.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49240"/>
            <a:ext cx="8869680" cy="9144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109728" cy="91440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1520" y="5532120"/>
            <a:ext cx="530352" cy="530352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440679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Com os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7881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Organizar, transformar e explorar conjuntos de dados.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Características da linguagem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11338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0B2C4A"/>
                </a:solidFill>
                <a:latin typeface="Calibri"/>
              </a:rPr>
              <a:t>R é...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1119"/>
            <a:ext cx="1133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64748B"/>
                </a:solidFill>
                <a:latin typeface="Calibri"/>
              </a:rPr>
              <a:t>Características</a:t>
            </a:r>
            <a:r>
              <a:rPr b="0" dirty="0">
                <a:solidFill>
                  <a:srgbClr val="64748B"/>
                </a:solidFill>
                <a:latin typeface="Calibri"/>
              </a:rPr>
              <a:t> da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linguagem</a:t>
            </a:r>
            <a:r>
              <a:rPr b="0" dirty="0">
                <a:solidFill>
                  <a:srgbClr val="64748B"/>
                </a:solidFill>
                <a:latin typeface="Calibri"/>
              </a:rPr>
              <a:t> e do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ambiente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estatístico</a:t>
            </a:r>
            <a:endParaRPr b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361188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109728" cy="1417320"/>
          </a:xfrm>
          <a:prstGeom prst="rect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1792" y="1709928"/>
            <a:ext cx="329184" cy="329184"/>
          </a:xfrm>
          <a:prstGeom prst="ellipse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73351"/>
            <a:ext cx="2807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0B2C4A"/>
                </a:solidFill>
                <a:latin typeface="Calibri"/>
              </a:rPr>
              <a:t>Dinamicamente</a:t>
            </a:r>
            <a:r>
              <a:rPr b="1" dirty="0">
                <a:solidFill>
                  <a:srgbClr val="0B2C4A"/>
                </a:solidFill>
                <a:latin typeface="Calibri"/>
              </a:rPr>
              <a:t> </a:t>
            </a:r>
            <a:r>
              <a:rPr b="1" dirty="0" err="1">
                <a:solidFill>
                  <a:srgbClr val="0B2C4A"/>
                </a:solidFill>
                <a:latin typeface="Calibri"/>
              </a:rPr>
              <a:t>tipada</a:t>
            </a:r>
            <a:endParaRPr b="1" dirty="0">
              <a:solidFill>
                <a:srgbClr val="0B2C4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792" y="2194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Tipos definidos em tempo de execução; variáveis podem mudar de tipo.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8808" y="1508760"/>
            <a:ext cx="361188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78808" y="1508760"/>
            <a:ext cx="109728" cy="1417320"/>
          </a:xfrm>
          <a:prstGeom prst="rect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34840" y="1709928"/>
            <a:ext cx="329184" cy="329184"/>
          </a:xfrm>
          <a:prstGeom prst="ellipse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67335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0B2C4A"/>
                </a:solidFill>
                <a:latin typeface="Calibri"/>
              </a:rPr>
              <a:t>Orientada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a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objetos</a:t>
            </a:r>
            <a:endParaRPr sz="1600" b="1" dirty="0">
              <a:solidFill>
                <a:srgbClr val="0B2C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4840" y="2194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Trabalha com objetos e possui sistemas OO nativos.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508760"/>
            <a:ext cx="361188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91856" y="1508760"/>
            <a:ext cx="109728" cy="1417320"/>
          </a:xfrm>
          <a:prstGeom prst="rect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47888" y="1709928"/>
            <a:ext cx="329184" cy="329184"/>
          </a:xfrm>
          <a:prstGeom prst="ellipse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656" y="167335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0B2C4A"/>
                </a:solidFill>
                <a:latin typeface="Calibri"/>
              </a:rPr>
              <a:t>Multiparadigma</a:t>
            </a:r>
            <a:endParaRPr sz="1600" b="1" dirty="0">
              <a:solidFill>
                <a:srgbClr val="0B2C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Permite estilos procedural, funcional e orientado a objetos.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090672"/>
            <a:ext cx="361188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090672"/>
            <a:ext cx="109728" cy="1417320"/>
          </a:xfrm>
          <a:prstGeom prst="rect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21792" y="3291840"/>
            <a:ext cx="329184" cy="329184"/>
          </a:xfrm>
          <a:prstGeom prst="ellipse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255264"/>
            <a:ext cx="274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B2C4A"/>
                </a:solidFill>
                <a:latin typeface="Calibri"/>
              </a:rPr>
              <a:t>Fortemente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voltada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para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estatística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e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ciência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de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7764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Foco em análise, modelagem e visualização de dados.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78808" y="3090672"/>
            <a:ext cx="361188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78808" y="3090672"/>
            <a:ext cx="109728" cy="1417320"/>
          </a:xfrm>
          <a:prstGeom prst="rect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34840" y="3291840"/>
            <a:ext cx="329184" cy="329184"/>
          </a:xfrm>
          <a:prstGeom prst="ellipse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8" y="3255264"/>
            <a:ext cx="274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0B2C4A"/>
                </a:solidFill>
                <a:latin typeface="Calibri"/>
              </a:rPr>
              <a:t>Tradicionalmente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utilizada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de forma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interpretada</a:t>
            </a:r>
            <a:endParaRPr sz="1600" b="1" dirty="0">
              <a:solidFill>
                <a:srgbClr val="0B2C4A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34840" y="37764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O código é executado pelo interpretador do 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91856" y="3090672"/>
            <a:ext cx="361188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91856" y="3090672"/>
            <a:ext cx="109728" cy="1417320"/>
          </a:xfrm>
          <a:prstGeom prst="rect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47888" y="3291840"/>
            <a:ext cx="329184" cy="329184"/>
          </a:xfrm>
          <a:prstGeom prst="ellipse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7656" y="3255264"/>
            <a:ext cx="274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0B2C4A"/>
                </a:solidFill>
                <a:latin typeface="Calibri"/>
              </a:rPr>
              <a:t>Possui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byte-code compilation e JIT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37764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 implementação inclui compilação para byte-code e JIT.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672583"/>
            <a:ext cx="361188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4672583"/>
            <a:ext cx="109728" cy="1417320"/>
          </a:xfrm>
          <a:prstGeom prst="rect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21792" y="4873751"/>
            <a:ext cx="329184" cy="329184"/>
          </a:xfrm>
          <a:prstGeom prst="ellipse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4837175"/>
            <a:ext cx="2807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0B2C4A"/>
                </a:solidFill>
                <a:latin typeface="Calibri"/>
              </a:rPr>
              <a:t>Possui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sistemas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OO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como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S3, S4 e R6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5358383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Diferentes modelos de orientação a objetos no ecossistema.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78808" y="4672583"/>
            <a:ext cx="361188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78808" y="4672583"/>
            <a:ext cx="109728" cy="1417320"/>
          </a:xfrm>
          <a:prstGeom prst="rect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434840" y="4873751"/>
            <a:ext cx="329184" cy="329184"/>
          </a:xfrm>
          <a:prstGeom prst="ellipse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8" y="4837175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0B2C4A"/>
                </a:solidFill>
                <a:latin typeface="Calibri"/>
              </a:rPr>
              <a:t>Possui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programação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funcional</a:t>
            </a:r>
            <a:endParaRPr sz="1600" b="1" dirty="0">
              <a:solidFill>
                <a:srgbClr val="0B2C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434840" y="5358383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Funções como objetos de primeira classe (apply, lapply, purrr...).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91856" y="4672583"/>
            <a:ext cx="361188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991856" y="4672583"/>
            <a:ext cx="109728" cy="1417320"/>
          </a:xfrm>
          <a:prstGeom prst="rect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247888" y="4873751"/>
            <a:ext cx="329184" cy="329184"/>
          </a:xfrm>
          <a:prstGeom prst="ellipse">
            <a:avLst/>
          </a:prstGeom>
          <a:solidFill>
            <a:srgbClr val="16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4837175"/>
            <a:ext cx="274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0B2C4A"/>
                </a:solidFill>
                <a:latin typeface="Calibri"/>
              </a:rPr>
              <a:t>Possui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grande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ecossistema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de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pacotes</a:t>
            </a:r>
            <a:endParaRPr sz="1600" b="1" dirty="0">
              <a:solidFill>
                <a:srgbClr val="0B2C4A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47888" y="5358383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Milhares de pacotes no CRAN e comunidade ativa.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green_side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-45720"/>
            <a:ext cx="2697480" cy="6949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3A5C"/>
                </a:solidFill>
                <a:latin typeface="Calibri"/>
              </a:rPr>
              <a:t>O que é o RStudio?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A interface (IDE) que facilita o uso do R no dia a 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4206240" cy="19659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20624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on_Mo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3A5C"/>
                </a:solidFill>
                <a:latin typeface="Calibri"/>
              </a:rPr>
              <a:t>R = 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488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Linguagem/ambiente estatístico que executa os comandos.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325880"/>
            <a:ext cx="4206240" cy="19659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46320" y="1325880"/>
            <a:ext cx="4206240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_RStu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645920"/>
            <a:ext cx="777240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3A5C"/>
                </a:solidFill>
                <a:latin typeface="Calibri"/>
              </a:rPr>
              <a:t>RStudio = 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488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Interface para escrever, executar e organizar o código.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40"/>
            <a:ext cx="8595360" cy="86868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_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5760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17320" y="363016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59352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Interface integrada para escrever, executar e organizar o código.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0560"/>
            <a:ext cx="8595360" cy="86868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con_RStu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17720"/>
            <a:ext cx="594360" cy="594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17320" y="459028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Editor + Console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19472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Scripts .R, Console, arquivos, gráficos, pacotes e projetos.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40680"/>
            <a:ext cx="8595360" cy="86868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_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577840"/>
            <a:ext cx="594360" cy="5943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555040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Importante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879592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R e RStudio NÃO são a mesma coisa. O RStudio usa o 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green_side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-45720"/>
            <a:ext cx="2697480" cy="6949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3A5C"/>
                </a:solidFill>
                <a:latin typeface="Calibri"/>
              </a:rPr>
              <a:t>Painéis principais do RStudio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Conheça a interface: onde escrever, executar e ver 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4069080" cy="22860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406908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  Editor de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1E293B"/>
                </a:solidFill>
                <a:latin typeface="Calibri"/>
              </a:rPr>
              <a:t>Scripts .R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E293B"/>
                </a:solidFill>
                <a:latin typeface="Calibri"/>
              </a:rPr>
              <a:t>Você escreve aqui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280160"/>
            <a:ext cx="4069080" cy="22860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09160" y="1280160"/>
            <a:ext cx="4069080" cy="5029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2  Environment /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0574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1E293B"/>
                </a:solidFill>
                <a:latin typeface="Calibri"/>
              </a:rPr>
              <a:t>Objetos da sessão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E293B"/>
                </a:solidFill>
                <a:latin typeface="Calibri"/>
              </a:rPr>
              <a:t>e histórico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94760"/>
            <a:ext cx="4069080" cy="22860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4069080" cy="502920"/>
          </a:xfrm>
          <a:prstGeom prst="rect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3  Console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1E293B"/>
                </a:solidFill>
                <a:latin typeface="Calibri"/>
              </a:rPr>
              <a:t>O R executa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E293B"/>
                </a:solidFill>
                <a:latin typeface="Calibri"/>
              </a:rPr>
              <a:t>os comandos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794760"/>
            <a:ext cx="4069080" cy="22860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09160" y="3794760"/>
            <a:ext cx="4069080" cy="5029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4  Files · Plots · Packages · 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720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1E293B"/>
                </a:solidFill>
                <a:latin typeface="Calibri"/>
              </a:rPr>
              <a:t>Arquivos, gráficos,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E293B"/>
                </a:solidFill>
                <a:latin typeface="Calibri"/>
              </a:rPr>
              <a:t>pacotes e ajuda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172200"/>
            <a:ext cx="8321040" cy="365760"/>
          </a:xfrm>
          <a:prstGeom prst="roundRect">
            <a:avLst/>
          </a:prstGeom>
          <a:solidFill>
            <a:srgbClr val="EE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199632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9E2E"/>
                </a:solidFill>
                <a:latin typeface="Calibri"/>
              </a:rPr>
              <a:t>Fluxo típico: escrever no Editor → rodar no Console → ver Plots /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 × RStudio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50292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50292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RStudio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53035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53035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Linguagem/ambiente estatístico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IDE (ambiente de desenvolvimento)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8892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26480" y="278892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Executa o código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Interface para trabalhar com 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53035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6480" y="3566160"/>
            <a:ext cx="53035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Motor estatístico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03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Ambiente de desenvolvimento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4340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26480" y="434340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Interpretador que processa comandos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Editor + Console + painéis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Calibri"/>
              </a:rPr>
              <a:t>Importante: RStudio não é o R e não é um compilador. É uma IDE; o R é quem executa o código.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green_side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-45720"/>
            <a:ext cx="2697480" cy="6949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3A5C"/>
                </a:solidFill>
                <a:latin typeface="Calibri"/>
              </a:rPr>
              <a:t>O RStudio é um compilador?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Resposta curta: não exatamente. Entenda o papel de cada 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8595360" cy="91440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_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417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45C26"/>
                </a:solidFill>
                <a:latin typeface="Calibri"/>
              </a:rPr>
              <a:t>Não exatamente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83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RStudio é uma IDE. O R é o interpretador/ambiente que executa os comandos.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Fluxo simplificado da aula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1874519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1874519" cy="1097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1560" y="3246120"/>
            <a:ext cx="640080" cy="6400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5C"/>
                </a:solidFill>
                <a:latin typeface="Calibri"/>
              </a:rPr>
              <a:t>Aluno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Calibri"/>
              </a:rPr>
              <a:t>Você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9E2E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2926080"/>
            <a:ext cx="1874519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06040" y="2926080"/>
            <a:ext cx="1874519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_RStu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200400"/>
            <a:ext cx="685800" cy="685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97480" y="40233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5C"/>
                </a:solidFill>
                <a:latin typeface="Calibri"/>
              </a:rPr>
              <a:t>RStudio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3434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Calibri"/>
              </a:rPr>
              <a:t>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9E2E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926080"/>
            <a:ext cx="1874519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54880" y="2926080"/>
            <a:ext cx="1874519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200400"/>
            <a:ext cx="685800" cy="685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46320" y="40233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5C"/>
                </a:solidFill>
                <a:latin typeface="Calibri"/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3434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Calibri"/>
              </a:rPr>
              <a:t>Motor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9E2E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2926080"/>
            <a:ext cx="1874519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03720" y="2926080"/>
            <a:ext cx="1874519" cy="109728"/>
          </a:xfrm>
          <a:prstGeom prst="rect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con_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3200400"/>
            <a:ext cx="685800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95160" y="40233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5C"/>
                </a:solidFill>
                <a:latin typeface="Calibri"/>
              </a:rPr>
              <a:t>Resultado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3434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Calibri"/>
              </a:rPr>
              <a:t>Saída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029200"/>
            <a:ext cx="8595360" cy="64008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0080" y="5166360"/>
            <a:ext cx="365760" cy="365760"/>
          </a:xfrm>
          <a:prstGeom prst="ellipse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16636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O aluno escreve o código no RStudio e o R executa esse código.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760720"/>
            <a:ext cx="8595360" cy="64008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0080" y="5897880"/>
            <a:ext cx="365760" cy="365760"/>
          </a:xfrm>
          <a:prstGeom prst="ellipse">
            <a:avLst/>
          </a:prstGeom>
          <a:solidFill>
            <a:srgbClr val="5A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89788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Não é necessário instalar um compilador separado para as análises básicas do curso.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green_side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-45720"/>
            <a:ext cx="2697480" cy="6949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3A5C"/>
                </a:solidFill>
                <a:latin typeface="Calibri"/>
              </a:rPr>
              <a:t>Programas necessários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O que instalar no computador para acompanhar as aulas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4434840" cy="49377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4434840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Obrigatórios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3977639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688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6596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5C"/>
                </a:solidFill>
                <a:latin typeface="Calibri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9260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Linguagem/ambiente que executa os códigos.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3977639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_RStu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65960" y="4343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B6B"/>
                </a:solidFill>
                <a:latin typeface="Calibri"/>
              </a:rPr>
              <a:t>RStudio 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846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IDE para escrever e executar scripts .R.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325880"/>
            <a:ext cx="4434840" cy="49377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325880"/>
            <a:ext cx="4434840" cy="64008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1417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Recomendados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194560"/>
            <a:ext cx="3977639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con_G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46888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8368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05032"/>
                </a:solidFill>
                <a:latin typeface="Calibri"/>
              </a:rPr>
              <a:t>Git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Opcional. Útil para controle de versão e projetos.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4023360"/>
            <a:ext cx="3977639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_W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343400"/>
            <a:ext cx="914400" cy="914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83680" y="4343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Navegador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46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Chrome, Edge ou Firefox — documentação e downloads.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D6F4C-2C37-EF14-96FB-09B54A9A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00B34-9D8E-DFEC-48D6-4E8D67FA273F}"/>
              </a:ext>
            </a:extLst>
          </p:cNvPr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0A80B3-025C-93BB-D595-ED2867F02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69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Primeiro teste no RStudio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No Console do RStudio, execute os comandos abaixo. Se retornarem resultados sem erro, o ambiente básico está funcionando.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1155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10 + 20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2 * 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sqrt(25)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R.version.string</a:t>
            </a:r>
            <a:endParaRPr sz="1400" b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15568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Esperado: 30; 10; 5; e a string da versão do R instalada.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Entendendo o Console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O símbolo &gt; indica que o R está pronto para receber um comando.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1155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&gt; 10 + 20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[1]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15568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Se aparecer Erro: objeto 'x' não encontrado, o R tentou usar um objeto x que ainda não foi criado na sessão.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Criando objetos (atribuição)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O operador &lt;- é o padrão do curso para atribuição. Também é possível usar = em muitos contextos.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1155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&lt;- 10</a:t>
            </a:r>
          </a:p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nome &lt;- "Aluno"</a:t>
            </a:r>
          </a:p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idade &lt;- 25</a:t>
            </a:r>
          </a:p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</a:t>
            </a:r>
          </a:p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nome</a:t>
            </a:r>
          </a:p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idade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15568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x → 10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nome → "Aluno"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idade →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Instalando os pacotes do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Execute uma vez no Console (requer internet). Depois, em cada sessão de análise, carregue com library().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1155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install.packages(c(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"ggplot2", "dplyr", "car", "lmtest",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"performance", "emmeans", "broom"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15568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Os pacotes ficam instalados no computador. O carregamento é feito a cada sessão com library().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Carregando os pacotes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Após a instalação, carregue os pacotes no início da sessão de análise.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1155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library(ggplot2)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library(dplyr)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library(car)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library(lmtest)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library(performance)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library(emmeans)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library(broom)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15568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Se não houver erro, os pacotes estão disponíveis para uso na sessão atual.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Pacotes essenciais para Modelagem Estatística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200400" cy="45720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49039" y="1280160"/>
            <a:ext cx="7772400" cy="4572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Pacote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35331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Uso principal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49039" y="1828800"/>
            <a:ext cx="7772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onsolas"/>
              </a:rPr>
              <a:t>ggplot2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92024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Gráficos e visualização de dados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7744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49039" y="2377440"/>
            <a:ext cx="7772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onsolas"/>
              </a:rPr>
              <a:t>dplyr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46888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Filtragem, transformação e organização dos dados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2608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749039" y="2926080"/>
            <a:ext cx="7772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017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onsolas"/>
              </a:rPr>
              <a:t>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01752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VIF, Levene e ferramentas para diagnóstico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749039" y="3474720"/>
            <a:ext cx="7772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566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onsolas"/>
              </a:rPr>
              <a:t>lmtest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56616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Testes para modelos lineares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2336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749039" y="4023360"/>
            <a:ext cx="7772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onsolas"/>
              </a:rPr>
              <a:t>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11480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Diagnóstico e avaliação de modelos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7200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749039" y="4572000"/>
            <a:ext cx="7772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663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onsolas"/>
              </a:rPr>
              <a:t>emmeans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66344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Médias marginais e comparações entre grupos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12064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749039" y="5120640"/>
            <a:ext cx="7772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21207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onsolas"/>
              </a:rPr>
              <a:t>broom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212079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Organização dos resultados de modelos em tabelas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Teste completo do ambiente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Este script testa criação de dados, pacote, gráfico e modelo linear. Se aparecer o summary e o gráfico, o ambiente está pronto.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1155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library(ggplot2)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dados &lt;- data.frame(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x = 1:10,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y = c(2, 4, 5, 7, 8, 10, 11, 13, 15, 16)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modelo &lt;- lm(y ~ x, data = dados)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summary(modelo)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ggplot(dados, aes(x = x, y = y)) +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geom_point() +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geom_smooth(method = "lm", se = FALSE)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15568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Resumo do modelo linear + gráfico com pontos e linha de regressão.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  <a:latin typeface="Calibri"/>
              </a:rPr>
              <a:t>UniEVANGÉLICA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·  Tutorial de R + 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Preparação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do 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ambiente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Estrutura recomendada de um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</a:t>
            </a:r>
            <a:r>
              <a:rPr sz="1800" b="1" dirty="0" err="1">
                <a:solidFill>
                  <a:srgbClr val="1E293B"/>
                </a:solidFill>
                <a:latin typeface="Calibri"/>
              </a:rPr>
              <a:t>Projeto_Modelagem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/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  dados/  →  dados_originais.csv, dados_tratados.csv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  scripts/  →  01_exploracao.R, 02_regressao.R, 03_anova.R, 04_ancova.R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 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resultados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/  → 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graficos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/,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tabelas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/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 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Projeto_Modelagem.Rproj</a:t>
            </a:r>
            <a:endParaRPr sz="1800" b="0" dirty="0">
              <a:solidFill>
                <a:srgbClr val="1E293B"/>
              </a:solidFill>
              <a:latin typeface="Calibr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Trabalhar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com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projetos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ajuda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organizar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scripts, dados 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resultados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facilita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reprodução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Boas práticas para as aulas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Não digitar todos os comandos só no Console: prefira scripts .R.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Salvar o script antes de executar etapas importantes.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Usar nomes claros: dados, modelo_regressao, modelo_anova.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Evitar modificar o arquivo de dados original; criar versão tratada.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Registrar pacotes e versões quando a análise precisar ser reproduzida.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Executar o código por etapas e verificar resultados antes de avançar.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  <a:p>
            <a:pPr algn="l"/>
            <a:r>
              <a:rPr sz="1100" b="0" dirty="0">
                <a:solidFill>
                  <a:srgbClr val="FFFFFF"/>
                </a:solidFill>
                <a:latin typeface="Calibri"/>
              </a:rPr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Checklist do aluno — ambiente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☐ R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instalado</a:t>
            </a:r>
            <a:endParaRPr sz="1800" b="0" dirty="0">
              <a:solidFill>
                <a:srgbClr val="1E293B"/>
              </a:solidFill>
              <a:latin typeface="Calibr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☐ RStudio Desktop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instalado</a:t>
            </a:r>
            <a:endParaRPr sz="1800" b="0" dirty="0">
              <a:solidFill>
                <a:srgbClr val="1E293B"/>
              </a:solidFill>
              <a:latin typeface="Calibr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☐ RStudio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reconhece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o 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☐ Console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executa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10 + 20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☐ Script .R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criado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e salvo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☐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Pacotes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: ggplot2,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dplyr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, car,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lmtest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, performance,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emmeans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, broom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☐ Teste de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regressão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executado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com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sucesso</a:t>
            </a:r>
            <a:endParaRPr sz="1800" b="0" dirty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66787"/>
            <a:ext cx="121916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 err="1">
                <a:solidFill>
                  <a:srgbClr val="FFFFFF"/>
                </a:solidFill>
                <a:latin typeface="Calibri"/>
              </a:rPr>
              <a:t>Fundamentos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do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 err="1">
                <a:solidFill>
                  <a:srgbClr val="CBD5E1"/>
                </a:solidFill>
                <a:latin typeface="Calibri"/>
              </a:rPr>
              <a:t>Percurso</a:t>
            </a:r>
            <a:r>
              <a:rPr sz="200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BD5E1"/>
                </a:solidFill>
                <a:latin typeface="Calibri"/>
              </a:rPr>
              <a:t>completo</a:t>
            </a:r>
            <a:r>
              <a:rPr sz="2000" b="0" dirty="0">
                <a:solidFill>
                  <a:srgbClr val="CBD5E1"/>
                </a:solidFill>
                <a:latin typeface="Calibri"/>
              </a:rPr>
              <a:t> do Tutorial de R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Como usar este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Execute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cada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bloco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código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no RStudio.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Observe o Console e o Environment.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Não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pule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os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exemplos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básicos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eles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voltam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estruturas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gráficos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estatística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1. Introdução e primeiros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15568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A6B6B"/>
                </a:solidFill>
                <a:latin typeface="Calibri"/>
              </a:rPr>
              <a:t>O que é?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600" b="0" dirty="0">
                <a:solidFill>
                  <a:srgbClr val="1E293B"/>
                </a:solidFill>
                <a:latin typeface="Calibri"/>
              </a:rPr>
              <a:t>R é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uma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linguagem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voltada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principalmente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para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computação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estatística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análise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visualização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de dados.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600" b="1" dirty="0">
                <a:solidFill>
                  <a:srgbClr val="C45C26"/>
                </a:solidFill>
                <a:latin typeface="Calibri"/>
              </a:rPr>
              <a:t>Para que serve?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600" b="0" dirty="0" err="1">
                <a:solidFill>
                  <a:srgbClr val="1E293B"/>
                </a:solidFill>
                <a:latin typeface="Calibri"/>
              </a:rPr>
              <a:t>Começar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experiência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prévia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avançar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até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estruturas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de dados,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gráficos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estatística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600" b="1" dirty="0" err="1">
                <a:solidFill>
                  <a:srgbClr val="0B2C4A"/>
                </a:solidFill>
                <a:latin typeface="Calibri"/>
              </a:rPr>
              <a:t>Instalação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(do tutorial)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 dirty="0">
                <a:solidFill>
                  <a:srgbClr val="1E293B"/>
                </a:solidFill>
                <a:latin typeface="Calibri"/>
              </a:rPr>
              <a:t>Para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trabalhar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localmente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instale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o R. </a:t>
            </a:r>
            <a:endParaRPr lang="pt-BR" sz="1500" b="0" dirty="0">
              <a:solidFill>
                <a:srgbClr val="1E293B"/>
              </a:solidFill>
              <a:latin typeface="Calibri"/>
            </a:endParaRP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600" b="1" dirty="0" err="1">
                <a:solidFill>
                  <a:srgbClr val="0B2C4A"/>
                </a:solidFill>
                <a:latin typeface="Calibri"/>
              </a:rPr>
              <a:t>Dica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de </a:t>
            </a:r>
            <a:r>
              <a:rPr sz="1600" b="1" dirty="0" err="1">
                <a:solidFill>
                  <a:srgbClr val="0B2C4A"/>
                </a:solidFill>
                <a:latin typeface="Calibri"/>
              </a:rPr>
              <a:t>ambiente</a:t>
            </a:r>
            <a:r>
              <a:rPr sz="1600" b="1" dirty="0">
                <a:solidFill>
                  <a:srgbClr val="0B2C4A"/>
                </a:solidFill>
                <a:latin typeface="Calibri"/>
              </a:rPr>
              <a:t> (tutorial)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 dirty="0">
                <a:solidFill>
                  <a:srgbClr val="1E293B"/>
                </a:solidFill>
                <a:latin typeface="Calibri"/>
              </a:rPr>
              <a:t>No RStudio, use o Console para testes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rápidos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e um Script para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guardar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o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código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. Se a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variável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não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existe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, o R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informa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“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objeto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não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encontrado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”.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  <a:latin typeface="Calibri"/>
              </a:rPr>
              <a:t>UniEVANGÉLICA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Primeiro cálculo no Console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72537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No console, uma expressão pode ser digitada diretamente. O R calcula e mostra o resultado.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172537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Verificar se o ambiente responde e treinar a leitura da saída do Console.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25296"/>
            <a:ext cx="1996588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3.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Exemplo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5 + 5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Qualquer expressão válida pode ser testada imediatamente no Console antes de ir para um script.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  <a:latin typeface="Calibri"/>
              </a:rPr>
              <a:t>UniEVANGÉLICA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Atribuição e visualização de objeto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7786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1E293B"/>
                </a:solidFill>
                <a:latin typeface="Calibri"/>
              </a:rPr>
              <a:t>Criamos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um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objeto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com 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&lt;-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depois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consultamos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seu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valor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digitando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o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nome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ou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usando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i="1" dirty="0">
                <a:solidFill>
                  <a:srgbClr val="FF0000"/>
                </a:solidFill>
                <a:latin typeface="Calibri"/>
              </a:rPr>
              <a:t>print().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177864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 err="1">
                <a:solidFill>
                  <a:srgbClr val="1E293B"/>
                </a:solidFill>
                <a:latin typeface="Calibri"/>
              </a:rPr>
              <a:t>Guardar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resultados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intermediários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para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reutilizar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na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análise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70432"/>
            <a:ext cx="1952200" cy="347649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3.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Exemplo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&lt;- 10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print(x)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x, name e idade são padrões de objetos simples que você usará o tempo todo.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  <a:latin typeface="Calibri"/>
              </a:rPr>
              <a:t>UniEVANGÉLICA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primeiros passos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No Console, calcule 12 + 8 e depois 3 * 7. Em seguida, crie x &lt;- 25 e exiba x e print(x).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Compare digitar só o nome do objeto versus usar print(). O resultado muda?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1871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latin typeface="Calibri"/>
              </a:rPr>
              <a:t>Não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olhe</a:t>
            </a:r>
            <a:r>
              <a:rPr sz="1600" b="1" dirty="0">
                <a:latin typeface="Calibri"/>
              </a:rPr>
              <a:t> a </a:t>
            </a:r>
            <a:r>
              <a:rPr sz="1600" b="1" dirty="0" err="1">
                <a:latin typeface="Calibri"/>
              </a:rPr>
              <a:t>resposta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ainda</a:t>
            </a:r>
            <a:r>
              <a:rPr sz="1600" b="1" dirty="0">
                <a:latin typeface="Calibri"/>
              </a:rPr>
              <a:t> — execute no RStudio e </a:t>
            </a:r>
            <a:r>
              <a:rPr sz="1600" b="1" dirty="0" err="1">
                <a:latin typeface="Calibri"/>
              </a:rPr>
              <a:t>confira</a:t>
            </a:r>
            <a:r>
              <a:rPr sz="1600" b="1" dirty="0">
                <a:latin typeface="Calibri"/>
              </a:rPr>
              <a:t> o Console.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Teste se você entendeu — Console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14630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O que será exibido?
5 + 5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A) 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B)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5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C)  "5 + 5"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79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5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D)  Erro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  <a:latin typeface="Calibri"/>
              </a:rPr>
              <a:t>UniEVANGÉLICA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·  Tutorial de R + 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Preparação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do 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ambiente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Resposta — Console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A4A"/>
                </a:solidFill>
                <a:latin typeface="Calibri"/>
              </a:rPr>
              <a:t>Resposta: B)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Calibri"/>
              </a:rPr>
              <a:t>O R avalia a expressão 5 + 5 e devolve o resultado numérico. O [1] na saída indica o índice do primeiro elemento do vetor impresso.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2. Sintaxe e impressão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Texto (strings literais)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08936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Textos podem ser escritos entre aspas simples ou duplas.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08936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Representar mensagens, nomes e categorias no código.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396083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3.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Exemplo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"Hello World!"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"Hello World!"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 err="1">
                <a:solidFill>
                  <a:srgbClr val="1E293B"/>
                </a:solidFill>
                <a:latin typeface="Calibri"/>
              </a:rPr>
              <a:t>Aspas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delimitam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texto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. Sem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aspas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, o R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interpreta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como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nome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objeto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Números literais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231402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Números podem ser digitados sem aspas.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23140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 err="1">
                <a:solidFill>
                  <a:srgbClr val="1E293B"/>
                </a:solidFill>
                <a:latin typeface="Calibri"/>
              </a:rPr>
              <a:t>Entrar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com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valores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numéricos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diretamente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no Console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ou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scripts.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5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10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Cada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linha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é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uma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expressão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independente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quando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digitada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no Console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Cálculo direto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31130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Operações simples são escritas diretamente.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31130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Calcular resultados sem criar variáveis intermediárias.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5 + 5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 err="1">
                <a:solidFill>
                  <a:srgbClr val="1E293B"/>
                </a:solidFill>
                <a:latin typeface="Calibri"/>
              </a:rPr>
              <a:t>Útil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para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checagens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rápidas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durante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a aula.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Função print()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62190"/>
            <a:ext cx="2000583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R consegue exibir objetos só digitando o nome, mas print() deixa a saída explícita — especialmente dentro de blocos.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000582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Garantir que algo seja impresso dentro de laços e funções.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46710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print("Hello World!")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"Hello World!"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1E293B"/>
                </a:solidFill>
                <a:latin typeface="Calibri"/>
              </a:rPr>
              <a:t>Dentro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b="1" dirty="0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for/while, print()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torna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explícito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o que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deve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aparecer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no Console.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print() dentro de um for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524365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Dentro de um bloco de repetição, print() deixa explícito o que deve ser exibido.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52436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Inspecionar cada valor percorrido pelo laço.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715679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for (x in 1:10)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  print(x)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6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600" b="0">
                <a:solidFill>
                  <a:srgbClr val="1E293B"/>
                </a:solidFill>
                <a:latin typeface="Consolas"/>
              </a:rPr>
              <a:t>1 a 10, cada valor em uma linha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 err="1">
                <a:solidFill>
                  <a:srgbClr val="1E293B"/>
                </a:solidFill>
                <a:latin typeface="Calibri"/>
              </a:rPr>
              <a:t>Você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verá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este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padrão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novamente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na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seção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laços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sintaxe e impressão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Exiba o texto "Olá, R!" com e sem print(). Depois imprima os números 1, 2 e 3 em linhas separadas.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Use um for de 1:5 com print(x).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64748B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olhe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resposta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ainda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— execute no RStudio e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confira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o Console.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Calibri"/>
              </a:rPr>
              <a:t>3.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Comentários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Comentário antes do código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39120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Comentários documentam o código e desativam linhas. Em R, o marcador é #. Não há delimitador especial de multilinha: use # em cada linha.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39120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Explicar a intenção do código sem afetar a execução.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# This is a comment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"Hello World!"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"Hello World!"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 err="1">
                <a:solidFill>
                  <a:srgbClr val="1E293B"/>
                </a:solidFill>
                <a:latin typeface="Calibri"/>
              </a:rPr>
              <a:t>Tudo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após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#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na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mesma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linha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é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ignorado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pelo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interpretador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Comentário no final da linha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12487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comentário pode aparecer depois da expressão.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12487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Anotar uma linha específica sem criar outra linha só de comentário.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12487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"Hello World!" # This is a comment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"Hello World!"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A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expressão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é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executada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; o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comentário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é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ignorado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Desativando código com 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426711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Uma linha precedida por # não é executada.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42671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Desligar temporariamente um comando sem apagá-lo.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426711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#"Good morning!"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"Good night!"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 dirty="0" err="1">
                <a:solidFill>
                  <a:srgbClr val="167A4A"/>
                </a:solidFill>
                <a:latin typeface="Calibri"/>
              </a:rPr>
              <a:t>Resultado</a:t>
            </a:r>
            <a:endParaRPr sz="1200" b="1" dirty="0">
              <a:solidFill>
                <a:srgbClr val="167A4A"/>
              </a:solidFill>
              <a:latin typeface="Calibri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[1] "Good night!"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 err="1">
                <a:solidFill>
                  <a:srgbClr val="1E293B"/>
                </a:solidFill>
                <a:latin typeface="Calibri"/>
              </a:rPr>
              <a:t>Útil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para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depurar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: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comente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um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trecho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e rode o restante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Comentário multilinha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053849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Para várias linhas, repita o # em cada uma.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053849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Documentar blocos maiores de código.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053849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# This is a comment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# written in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# more than just one line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"Hello World!"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"Hello World!"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 err="1">
                <a:solidFill>
                  <a:srgbClr val="1E293B"/>
                </a:solidFill>
                <a:latin typeface="Calibri"/>
              </a:rPr>
              <a:t>Não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existe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/* ... */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como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outras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linguagens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; use #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linha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linha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comentários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Escreva três linhas de comentário descrevendo o que você pretende calcular. Depois execute 100 / 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E293B"/>
                </a:solidFill>
                <a:latin typeface="Calibri"/>
              </a:rPr>
              <a:t>Comente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Calibri"/>
              </a:rPr>
              <a:t>uma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Calibri"/>
              </a:rPr>
              <a:t>linha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600" b="1" dirty="0" err="1">
                <a:solidFill>
                  <a:srgbClr val="1E293B"/>
                </a:solidFill>
                <a:latin typeface="Calibri"/>
              </a:rPr>
              <a:t>código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Calibri"/>
              </a:rPr>
              <a:t>válida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 e </a:t>
            </a:r>
            <a:r>
              <a:rPr sz="1600" b="1" dirty="0" err="1">
                <a:solidFill>
                  <a:srgbClr val="1E293B"/>
                </a:solidFill>
                <a:latin typeface="Calibri"/>
              </a:rPr>
              <a:t>confirme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 que </a:t>
            </a:r>
            <a:r>
              <a:rPr sz="1600" b="1" dirty="0" err="1">
                <a:solidFill>
                  <a:srgbClr val="1E293B"/>
                </a:solidFill>
                <a:latin typeface="Calibri"/>
              </a:rPr>
              <a:t>ela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Calibri"/>
              </a:rPr>
              <a:t>não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Calibri"/>
              </a:rPr>
              <a:t>executa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64748B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olhe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resposta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ainda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— execute no RStudio e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confira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o Console.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4. Variáveis, concatenação e nomes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Criar e exibir variáveis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311301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>
                <a:solidFill>
                  <a:srgbClr val="1E293B"/>
                </a:solidFill>
                <a:latin typeface="Calibri"/>
              </a:rPr>
              <a:t>Uma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variável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é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criada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quando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um valor é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atribuído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. A forma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mais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usada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no tutorial é 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&lt;-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. O =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também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pode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aparecer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, mas 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&lt;- 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é a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convenção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mais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comum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31130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Armazenar valores nomeados para reutilizar.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311301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name &lt;- "John"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age &lt;- 40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name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"John"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O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nome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fica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associado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ao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valor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na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sessão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atual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(Environment).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Impressão automática pelo nome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45334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Basta digitar o nome do objeto para visualizar seu valor.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14918"/>
            <a:ext cx="2453344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Inspecionar rapidamente o conteúdo de um objeto.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45334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name &lt;- "John Doe"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"John Doe"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No script,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às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vezes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prefira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print() para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deixar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saída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explícita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Concatenação com paste()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417833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Para juntar texto e variáveis, use paste().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417833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Montar mensagens e rótulos a partir de partes.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417833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text &lt;- "awesome"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paste("R is", text)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"R is awesome"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paste() é a forma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segura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unir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textos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(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não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use +).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Concatenando duas variáveis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133748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Duas strings podem ser unidas com paste().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133748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Compor frases a partir de objetos de 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133748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text1 &lt;- "R is"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text2 &lt;- "awesome"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paste(text1, text2)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"R is awesome"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Por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padrão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, paste()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separa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com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espaço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Soma de números em variáveis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435589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Para números, + continua sendo uma operação matemática.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435589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Calcular a partir de valores armazenados.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435589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num1 &lt;- 5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num2 &lt;- 10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num1 + num2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 err="1">
                <a:solidFill>
                  <a:srgbClr val="1E293B"/>
                </a:solidFill>
                <a:latin typeface="Calibri"/>
              </a:rPr>
              <a:t>Tipos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numéricos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suportam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operadores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aritméticos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Texto + número: erro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209652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Não use + para juntar uma string e um número. Use paste() ou outra conversão apropriada.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209652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Evitar um erro clássico de iniciantes.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209652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num &lt;- 5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text &lt;- "Some text"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num +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 dirty="0" err="1">
                <a:solidFill>
                  <a:srgbClr val="167A4A"/>
                </a:solidFill>
                <a:latin typeface="Calibri"/>
              </a:rPr>
              <a:t>Resultado</a:t>
            </a:r>
            <a:endParaRPr sz="1200" b="1" dirty="0">
              <a:solidFill>
                <a:srgbClr val="167A4A"/>
              </a:solidFill>
              <a:latin typeface="Calibri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FF0000"/>
                </a:solidFill>
                <a:latin typeface="Consolas"/>
              </a:rPr>
              <a:t>Erro: non-numeric argument to binary operator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dirty="0">
                <a:solidFill>
                  <a:srgbClr val="1E293B"/>
                </a:solidFill>
                <a:latin typeface="Calibri"/>
              </a:rPr>
              <a:t>Na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prática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converta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tipos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ou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use paste(num, text).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dirty="0">
                <a:solidFill>
                  <a:srgbClr val="64748B"/>
                </a:solidFill>
                <a:latin typeface="Calibri"/>
              </a:rPr>
              <a:t>Nota </a:t>
            </a:r>
            <a:r>
              <a:rPr sz="1200" b="1" dirty="0" err="1">
                <a:solidFill>
                  <a:srgbClr val="64748B"/>
                </a:solidFill>
                <a:latin typeface="Calibri"/>
              </a:rPr>
              <a:t>didática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: </a:t>
            </a:r>
            <a:r>
              <a:rPr sz="1200" b="1" dirty="0">
                <a:solidFill>
                  <a:srgbClr val="64748B"/>
                </a:solidFill>
                <a:latin typeface="Calibri"/>
              </a:rPr>
              <a:t>O </a:t>
            </a:r>
            <a:r>
              <a:rPr sz="1200" b="1" dirty="0" err="1">
                <a:solidFill>
                  <a:srgbClr val="64748B"/>
                </a:solidFill>
                <a:latin typeface="Calibri"/>
              </a:rPr>
              <a:t>erro</a:t>
            </a:r>
            <a:r>
              <a:rPr sz="1200" b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64748B"/>
                </a:solidFill>
                <a:latin typeface="Calibri"/>
              </a:rPr>
              <a:t>ocorre</a:t>
            </a:r>
            <a:r>
              <a:rPr sz="1200" b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64748B"/>
                </a:solidFill>
                <a:latin typeface="Calibri"/>
              </a:rPr>
              <a:t>porque</a:t>
            </a:r>
            <a:r>
              <a:rPr sz="1200" b="1" dirty="0">
                <a:solidFill>
                  <a:srgbClr val="64748B"/>
                </a:solidFill>
                <a:latin typeface="Calibri"/>
              </a:rPr>
              <a:t> + </a:t>
            </a:r>
            <a:r>
              <a:rPr sz="1200" b="1" dirty="0" err="1">
                <a:solidFill>
                  <a:srgbClr val="64748B"/>
                </a:solidFill>
                <a:latin typeface="Calibri"/>
              </a:rPr>
              <a:t>espera</a:t>
            </a:r>
            <a:r>
              <a:rPr sz="1200" b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64748B"/>
                </a:solidFill>
                <a:latin typeface="Calibri"/>
              </a:rPr>
              <a:t>argumentos</a:t>
            </a:r>
            <a:r>
              <a:rPr sz="1200" b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64748B"/>
                </a:solidFill>
                <a:latin typeface="Calibri"/>
              </a:rPr>
              <a:t>numéricos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Múltiplas variáveis (atribuição em cadeia)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479977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mesmo valor pode ser atribuído em cadeia.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479977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Inicializar vários objetos com o mesmo valor.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479977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var1 &lt;- var2 &lt;- var3 &lt;- "Orange"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var1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var2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var3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"Orange" em cada saída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Todos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apontam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para o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mesmo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conteúdo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no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momento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da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atribuição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Nomes válidos de variáveis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227407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Nomes podem usar letras, números, ponto e sublinhado, respeitando regras de início e diferenciação maiúsculas/minúsculas.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227407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Escolher identificadores legíveis e válidos.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227407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myvar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"John"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my_var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"John"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myVar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"John"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MYVAR &lt;- "John"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myvar2 &lt;- "John"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myvar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"John"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Todos são exemplos de nomes válidos.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R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diferencia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myvar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de MYVAR (case-sensitive).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Nomes inválidos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044971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Começar com número, usar espaço ou hífen torna o identificador inválido.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04497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Reconhecer erros de nomenclatura antes de executar.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044971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#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Exemplos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conceituais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de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nomes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inválidos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# 2myvar &lt;- "John"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# my-var &lt;- "John"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# my var &lt;- "John"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# _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my_var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"John"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As linhas comentadas são inválidas como atribuições.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 err="1">
                <a:solidFill>
                  <a:srgbClr val="1E293B"/>
                </a:solidFill>
                <a:latin typeface="Calibri"/>
              </a:rPr>
              <a:t>Prefira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snake_case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meu_objeto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modelo_anova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0B2C4A"/>
                </a:solidFill>
                <a:latin typeface="Calibri"/>
              </a:rPr>
              <a:t>Exercício</a:t>
            </a:r>
            <a:r>
              <a:rPr sz="2800" b="1" dirty="0">
                <a:solidFill>
                  <a:srgbClr val="0B2C4A"/>
                </a:solidFill>
                <a:latin typeface="Calibri"/>
              </a:rPr>
              <a:t> — </a:t>
            </a:r>
            <a:r>
              <a:rPr sz="2800" b="1" dirty="0" err="1">
                <a:solidFill>
                  <a:srgbClr val="0B2C4A"/>
                </a:solidFill>
                <a:latin typeface="Calibri"/>
              </a:rPr>
              <a:t>variáveis</a:t>
            </a:r>
            <a:r>
              <a:rPr sz="2800" b="1" dirty="0">
                <a:solidFill>
                  <a:srgbClr val="0B2C4A"/>
                </a:solidFill>
                <a:latin typeface="Calibri"/>
              </a:rPr>
              <a:t> e paste()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 err="1">
                <a:solidFill>
                  <a:srgbClr val="1E293B"/>
                </a:solidFill>
                <a:latin typeface="Calibri"/>
              </a:rPr>
              <a:t>Crie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cidade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contendo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o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nome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uma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cidade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.</a:t>
            </a:r>
            <a:endParaRPr lang="pt-BR" sz="1800" b="0" dirty="0">
              <a:solidFill>
                <a:srgbClr val="1E293B"/>
              </a:solidFill>
              <a:latin typeface="Calibri"/>
            </a:endParaRPr>
          </a:p>
          <a:p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Exiba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com print(). </a:t>
            </a:r>
            <a:endParaRPr lang="pt-BR" sz="1800" b="0" dirty="0">
              <a:solidFill>
                <a:srgbClr val="1E293B"/>
              </a:solidFill>
              <a:latin typeface="Calibri"/>
            </a:endParaRPr>
          </a:p>
          <a:p>
            <a:r>
              <a:rPr lang="pt-BR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Depois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use paste("Eu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moro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",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cidade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Crie nome, cidade e profissao e exiba as três informações com paste().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Teste se você entendeu — variáveis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14630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E293B"/>
                </a:solidFill>
                <a:latin typeface="Calibri"/>
              </a:rPr>
              <a:t>O que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será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exibido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?
x &lt;- 10
y &lt;- 20
x + 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078" y="292608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A)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B)  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5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C)  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79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5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D)  1020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Resposta — variáveis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89356"/>
            <a:ext cx="1124712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A4A"/>
                </a:solidFill>
                <a:latin typeface="Calibri"/>
              </a:rPr>
              <a:t>Resposta: C)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Calibri"/>
              </a:rPr>
              <a:t>x e y são numéricos. O operador + soma 10 + 20 = 30. A opção D seria típica de concatenação de texto, que em R se faz com paste(), não com +.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5. Tipos de dados e números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Uma variável pode mudar de tipo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71967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Tipos básicos: numeric, integer, complex, character e logical. Em R, a variável não precisa ser declarada previamente e pode mudar de tipo.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719674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Flexibilidade dinâmica tipada — útil, mas exige atenção.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71967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my_var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&lt;- 30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my_var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"Sally"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my_var</a:t>
            </a:r>
            <a:endParaRPr sz="1400" b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"Sally"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O valor anterior (30) é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substituído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pelo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texto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Verificar a classe com class()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044971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class() informa a classe do objeto.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04497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Diagnosticar o tipo antes de operações e modelos.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044971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 &lt;- 10.5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class(x)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 &lt;- 1000L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class(x)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 &lt;- 9i + 3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class(x)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 &lt;- "R is exciting"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class(x)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 &lt;- TRUE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class(x)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297680"/>
            <a:ext cx="5577840" cy="1831907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 dirty="0" err="1">
                <a:solidFill>
                  <a:srgbClr val="167A4A"/>
                </a:solidFill>
                <a:latin typeface="Calibri"/>
              </a:rPr>
              <a:t>Resultado</a:t>
            </a:r>
            <a:endParaRPr sz="1200" b="1" dirty="0">
              <a:solidFill>
                <a:srgbClr val="167A4A"/>
              </a:solidFill>
              <a:latin typeface="Calibri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numeric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integer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complex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character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logical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1" y="4892040"/>
            <a:ext cx="50749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507492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Em modelagem, saber o tipo evita erros em fórmulas e gráficos.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Três tipos numéricos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755185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Decimais são normalmente numeric; L marca integer; i representa a parte imaginária.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75518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Escolher a representação adequada do número.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755185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 &lt;- 10.5   # numeric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y &lt;- 10L    # integer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z &lt;- 1i     # complex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10.5; 10; 0+1i (complexo)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Na maioria das análises do curso, você usará numeric.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Tipo numeric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346812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Exemplos de números com e sem casas decimais — ambos podem ser numeric.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346812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Representar medidas contínuas (altura, peso, temperatura etc.).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346812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 &lt;- 10.5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y &lt;- 55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class(x)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class(y)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 dirty="0" err="1">
                <a:solidFill>
                  <a:srgbClr val="167A4A"/>
                </a:solidFill>
                <a:latin typeface="Calibri"/>
              </a:rPr>
              <a:t>Resultado</a:t>
            </a:r>
            <a:endParaRPr sz="1200" b="1" dirty="0">
              <a:solidFill>
                <a:srgbClr val="167A4A"/>
              </a:solidFill>
              <a:latin typeface="Calibri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10.5, 55; </a:t>
            </a:r>
            <a:r>
              <a:rPr sz="1300" b="0" dirty="0" err="1">
                <a:solidFill>
                  <a:srgbClr val="1E293B"/>
                </a:solidFill>
                <a:latin typeface="Consolas"/>
              </a:rPr>
              <a:t>classe</a:t>
            </a:r>
            <a:r>
              <a:rPr sz="1300" b="0" dirty="0">
                <a:solidFill>
                  <a:srgbClr val="1E293B"/>
                </a:solidFill>
                <a:latin typeface="Consolas"/>
              </a:rPr>
              <a:t> numeric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dirty="0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55 </a:t>
            </a:r>
            <a:r>
              <a:rPr sz="1400" b="0" dirty="0" err="1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sem</a:t>
            </a:r>
            <a:r>
              <a:rPr sz="1400" b="0" dirty="0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 L </a:t>
            </a:r>
            <a:r>
              <a:rPr sz="1400" b="0" dirty="0" err="1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ainda</a:t>
            </a:r>
            <a:r>
              <a:rPr sz="1400" b="0" dirty="0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 é numeric no 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Tipo integer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30242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L quando quiser criar explicitamente um inteiro.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302424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Contagens e índices inteiros explícitos.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30242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 &lt;- 1000L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y &lt;- 55L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class(x)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class(y)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1000, 55; classe integer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dirty="0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O </a:t>
            </a:r>
            <a:r>
              <a:rPr sz="1400" b="0" dirty="0" err="1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sufixo</a:t>
            </a:r>
            <a:r>
              <a:rPr sz="1400" b="0" dirty="0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 L é a </a:t>
            </a:r>
            <a:r>
              <a:rPr sz="1400" b="0" dirty="0" err="1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marca</a:t>
            </a:r>
            <a:r>
              <a:rPr sz="1400" b="0" dirty="0">
                <a:solidFill>
                  <a:srgbClr val="1E293B"/>
                </a:solidFill>
                <a:highlight>
                  <a:srgbClr val="FFFF00"/>
                </a:highlight>
                <a:latin typeface="Calibri"/>
              </a:rPr>
              <a:t> do tutorial para integer.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tipos de dados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um numeric, um integer (com L), um character e um logical. Use class() em cada 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Atribua primeiro 10 e depois "dez" à mesma variável e observe class() antes e depois.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3495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Calibri"/>
              </a:rPr>
              <a:t>6. </a:t>
            </a:r>
            <a:r>
              <a:rPr lang="pt-BR" sz="3200" b="1" dirty="0">
                <a:solidFill>
                  <a:srgbClr val="FFFFFF"/>
                </a:solidFill>
                <a:latin typeface="Calibri"/>
              </a:rPr>
              <a:t>Funções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Matemática</a:t>
            </a:r>
            <a:r>
              <a:rPr lang="pt-BR" sz="3200" b="1" dirty="0">
                <a:solidFill>
                  <a:srgbClr val="FFFFFF"/>
                </a:solidFill>
                <a:latin typeface="Calibri"/>
              </a:rPr>
              <a:t>s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Adição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639775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+ para somar.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63977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Somar valores numéricos.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639775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10 + 5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Base de quase todo cálculo estatístico.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Subtração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790696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- para subtrair.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790696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Calcular diferenças.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790696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10 - 5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Diferenças entre médias, resíduos etc.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B2C4A"/>
                </a:solidFill>
                <a:latin typeface="Calibri"/>
              </a:rPr>
              <a:t>max() e min()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50661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max() retorna o maior valor; min() retorna o menor.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50661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Encontrar extremos em um conjunto.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50661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max(5, 10, 15)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min(5, 10, 15)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15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Útil na análise exploratória.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Raiz quadrada — sqrt()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577631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sqrt() calcula a raiz quadrada.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57763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Transformações e fórmulas matemáticas.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577631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sqrt(16)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Aparece em desvios-padrão e outras fórmulas.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Valor absoluto — abs()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71967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abs() transforma um número negativo em seu valor positivo correspondente.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719674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Trabalhar com magnitudes.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71967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abs(-4.7)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4.7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Erros absolutos e distâncias.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ceiling() e floor()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07160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ceiling() sobe para o inteiro seguinte; floor() desce para o inteiro anterior.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071604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Arredondar para cima ou para baixo.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07160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ceiling(1.4)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floor(1.4)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2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Não confundir com round().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matemática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Calcule max(2, 9, 4), min(2, 9, 4), sqrt(81) e abs(-12.5).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Compare ceiling(3.1) e floor(3.1). Explique a diferença em uma frase.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B2C4A"/>
                </a:solidFill>
                <a:latin typeface="Calibri"/>
              </a:rPr>
              <a:t>Teste se </a:t>
            </a:r>
            <a:r>
              <a:rPr sz="2800" b="1" dirty="0" err="1">
                <a:solidFill>
                  <a:srgbClr val="0B2C4A"/>
                </a:solidFill>
                <a:latin typeface="Calibri"/>
              </a:rPr>
              <a:t>você</a:t>
            </a:r>
            <a:r>
              <a:rPr sz="2800" b="1" dirty="0">
                <a:solidFill>
                  <a:srgbClr val="0B2C4A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B2C4A"/>
                </a:solidFill>
                <a:latin typeface="Calibri"/>
              </a:rPr>
              <a:t>entendeu</a:t>
            </a:r>
            <a:endParaRPr sz="2800" b="1" dirty="0">
              <a:solidFill>
                <a:srgbClr val="0B2C4A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14630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O que retorna ceiling(1.4)?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A) 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B)  1.4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5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C) 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79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5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D)  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0B2C4A"/>
                </a:solidFill>
                <a:latin typeface="Calibri"/>
              </a:rPr>
              <a:t>Resposta</a:t>
            </a:r>
            <a:endParaRPr sz="2800" b="1" dirty="0">
              <a:solidFill>
                <a:srgbClr val="0B2C4A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A4A"/>
                </a:solidFill>
                <a:latin typeface="Calibri"/>
              </a:rPr>
              <a:t>Resposta: C)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Calibri"/>
              </a:rPr>
              <a:t>ceiling() arredonda para o inteiro imediatamente superior. floor(1.4) seria 1.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7. Strings e caracteres de escape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String no R — literal de texto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524365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Uma string é uma sequência de caracteres utilizada para representar textos. Aspas simples e duplas podem delimitar strings.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52436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Representar nomes, categorias, descrições e identificadores.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524365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"hello"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'hello'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As duas expressões representam o texto hello.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Strings são usadas para: nomes; cidades; categorias; descrições; textos; identificadores.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String em variável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258035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Atribua o texto com &lt;- e visualize pelo nome.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25803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Guardar textos para reutilizar em mensagens e tabelas.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46710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str &lt;- "Hello"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"Hello"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92358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str recebe o texto; digitar str exibe o conteúdo.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String multilinha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710797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Uma string pode ocupar várias linhas no código.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710797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Armazenar textos longos (parágrafos, notas).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710797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str &lt;- "Lorem ipsum dolor sit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amet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consectetur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adipiscing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elit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sed do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eiusmod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tempor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incididunt</a:t>
            </a:r>
            <a:endParaRPr sz="1400" b="0" dirty="0">
              <a:solidFill>
                <a:srgbClr val="E2E8F0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ut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labore et dolore magna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aliqua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."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 saída pode conter \n nos pontos de quebra.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Ao imprimir com print()/nome, quebras podem aparecer como \n.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cat() para imprimir multilinha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88835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cat() imprime o texto preservando as quebras de linha do exemplo.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88835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Exibir texto longo de forma legível.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88835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str &lt;- "Lorem ipsum dolor sit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amet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consectetur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adipiscing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elit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sed do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eiusmod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tempor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incididunt</a:t>
            </a:r>
            <a:endParaRPr sz="1400" b="0" dirty="0">
              <a:solidFill>
                <a:srgbClr val="E2E8F0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ut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labore et dolore magna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aliqua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."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cat(str)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Texto exibido em múltiplas linhas.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cat() é melhor que print() para textos com quebras.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Tamanho da string — nchar()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444466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nchar() conta caracteres.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444466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Medir comprimento de textos e códigos.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444466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str &lt;- "Hello World!"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nchar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(str)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Espaços também contam.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Pesquisar em uma string — grepl()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422716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grepl() verifica se um caractere ou sequência aparece no 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422716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Buscar padrões simples em textos.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422716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str &lt;- "Hello World!"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grepl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("H", str)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grepl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("Hello", str)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grepl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("X", str)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TRUE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TRUE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FALSE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Retorna lógico: útil em filtros e condições.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Concatenar strings — paste()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897228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paste() junta duas strings.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897228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Compor textos a partir de partes.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897228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str1 &lt;- "Hello"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str2 &lt;- "World"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paste(str1, str2)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"Hello World"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Mesma ideia da seção de variáveis, agora no contexto de strings.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Escape de aspas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222525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Quando uma string delimitada por aspas duplas precisa conter aspas duplas, use \".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22252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Incluir aspas dentro do 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222525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str &lt;- "We are the so-called \"Vikings\", from the north."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str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cat(str)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O texto é exibido com as aspas internas; cat() evita a barra invertida na visualização.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Escape permite caracteres especiais dentro da string.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Tabela rápida de escapes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371600"/>
            <a:ext cx="3200400" cy="45720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4114800" cy="4572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14447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4447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96596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77840" y="1965960"/>
            <a:ext cx="4114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2057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onsolas"/>
              </a:rPr>
              <a:t>\\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0574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barra invertida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56032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577840" y="2560320"/>
            <a:ext cx="4114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onsolas"/>
              </a:rPr>
              <a:t>\n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651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nova linha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154679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577840" y="3154679"/>
            <a:ext cx="4114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8880" y="3246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B2C4A"/>
                </a:solidFill>
                <a:latin typeface="Consolas"/>
              </a:rPr>
              <a:t>\r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461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 err="1">
                <a:solidFill>
                  <a:srgbClr val="1E293B"/>
                </a:solidFill>
                <a:latin typeface="Calibri"/>
              </a:rPr>
              <a:t>retorno</a:t>
            </a:r>
            <a:r>
              <a:rPr sz="1500" b="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1E293B"/>
                </a:solidFill>
                <a:latin typeface="Calibri"/>
              </a:rPr>
              <a:t>carro</a:t>
            </a:r>
            <a:r>
              <a:rPr lang="pt-BR" sz="1500" b="0" dirty="0">
                <a:solidFill>
                  <a:srgbClr val="1E293B"/>
                </a:solidFill>
                <a:latin typeface="Calibri"/>
              </a:rPr>
              <a:t> (carriage return)</a:t>
            </a:r>
            <a:endParaRPr sz="1500" b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286000" y="3749039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577840" y="3749039"/>
            <a:ext cx="4114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384047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onsolas"/>
              </a:rPr>
              <a:t>\t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84047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tabulação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34340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77840" y="4343400"/>
            <a:ext cx="4114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68880" y="4434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onsolas"/>
              </a:rPr>
              <a:t>\b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4348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backspace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strings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uma variável chamada cidade contendo o nome de uma cidade. Depois exiba com print().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Crie nome, cidade e profissao e exiba as três informações. Use nchar() e grepl() em pelo menos uma delas.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8. Booleanos e operadores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Comparações produzem TRUE/FALSE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675286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Comparações produzem TRUE ou FALSE. Os operadores se organizam em aritméticos, atribuição, comparação, lógicos e diversos.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675286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Tomar decisões e filtrar dados.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675286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10 &gt; 9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10 == 9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10 &lt;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TRUE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FALSE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FALSE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Base de if/else e de filtros em data frames.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Comparar variáveis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311301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 comparação também pode ser feita entre objetos.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31130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Comparar valores armazenados.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311301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 &lt;- 10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b &lt;- 9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 &gt;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O resultado lógico pode alimentar condições.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Operadores aritméticos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286000" cy="41148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Operador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325880"/>
            <a:ext cx="3657600" cy="41148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389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Função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325880"/>
            <a:ext cx="4572000" cy="41148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389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Exemplo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74519"/>
            <a:ext cx="22860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26080" y="1874519"/>
            <a:ext cx="36576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66560" y="1874519"/>
            <a:ext cx="45720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947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onsolas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47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alibri"/>
              </a:rPr>
              <a:t>adição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947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onsolas"/>
              </a:rPr>
              <a:t>x + 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377439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926080" y="2377439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66560" y="2377439"/>
            <a:ext cx="4572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4505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onsolas"/>
              </a:rPr>
              <a:t>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4505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alibri"/>
              </a:rPr>
              <a:t>subtração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4505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onsolas"/>
              </a:rPr>
              <a:t>x - 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880359"/>
            <a:ext cx="22860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926080" y="2880359"/>
            <a:ext cx="36576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766560" y="2880359"/>
            <a:ext cx="45720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295351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onsolas"/>
              </a:rPr>
              <a:t>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29535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alibri"/>
              </a:rPr>
              <a:t>multiplicação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95351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onsolas"/>
              </a:rPr>
              <a:t>x * 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383279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926080" y="3383279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766560" y="3383279"/>
            <a:ext cx="4572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4564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onsolas"/>
              </a:rPr>
              <a:t>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4564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alibri"/>
              </a:rPr>
              <a:t>divisão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4564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onsolas"/>
              </a:rPr>
              <a:t>x / 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86199"/>
            <a:ext cx="22860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926080" y="3886199"/>
            <a:ext cx="36576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766560" y="3886199"/>
            <a:ext cx="45720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395935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onsolas"/>
              </a:rPr>
              <a:t>^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39593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alibri"/>
              </a:rPr>
              <a:t>potência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95935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onsolas"/>
              </a:rPr>
              <a:t>x ^ 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389119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926080" y="4389119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766560" y="4389119"/>
            <a:ext cx="4572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446227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B2C4A"/>
                </a:solidFill>
                <a:latin typeface="Consolas"/>
              </a:rPr>
              <a:t>%%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46227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alibri"/>
              </a:rPr>
              <a:t>resto da divisão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46227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onsolas"/>
              </a:rPr>
              <a:t>x %% 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892039"/>
            <a:ext cx="22860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926080" y="4892039"/>
            <a:ext cx="36576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766560" y="4892039"/>
            <a:ext cx="4572000" cy="457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4965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B2C4A"/>
                </a:solidFill>
                <a:latin typeface="Consolas"/>
              </a:rPr>
              <a:t>%/%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49651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alibri"/>
              </a:rPr>
              <a:t>divisão inteira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49651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Consolas"/>
              </a:rPr>
              <a:t>x %/% 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Formas de atribuição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630897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R aceita formas alternativas de atribuição; &lt;- é a convenção mais recomendada.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630897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Atribuir valores a objetos.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630897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my_var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my_var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&lt;&lt;- 3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3 -&gt;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my_var</a:t>
            </a:r>
            <a:endParaRPr sz="1400" b="0" dirty="0">
              <a:solidFill>
                <a:srgbClr val="E2E8F0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3 -&gt;&gt;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my_var</a:t>
            </a:r>
            <a:endParaRPr sz="1400" b="0" dirty="0">
              <a:solidFill>
                <a:srgbClr val="E2E8F0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my_var</a:t>
            </a:r>
            <a:endParaRPr sz="1400" b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6B6B"/>
                </a:solidFill>
                <a:latin typeface="Calibri"/>
              </a:rPr>
              <a:t>Na </a:t>
            </a:r>
            <a:r>
              <a:rPr sz="1300" b="1" dirty="0" err="1">
                <a:solidFill>
                  <a:srgbClr val="1A6B6B"/>
                </a:solidFill>
                <a:latin typeface="Calibri"/>
              </a:rPr>
              <a:t>prática</a:t>
            </a:r>
            <a:endParaRPr sz="1300" b="1" dirty="0">
              <a:solidFill>
                <a:srgbClr val="1A6B6B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dirty="0">
                <a:solidFill>
                  <a:srgbClr val="1E293B"/>
                </a:solidFill>
                <a:latin typeface="Calibri"/>
              </a:rPr>
              <a:t>Neste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curso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, use &lt;-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como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Calibri"/>
              </a:rPr>
              <a:t>padrão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 (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conforme</a:t>
            </a:r>
            <a:r>
              <a:rPr sz="1400" b="1" dirty="0">
                <a:solidFill>
                  <a:srgbClr val="1E293B"/>
                </a:solidFill>
                <a:latin typeface="Calibri"/>
              </a:rPr>
              <a:t> material de </a:t>
            </a:r>
            <a:r>
              <a:rPr sz="1400" b="1" dirty="0" err="1">
                <a:solidFill>
                  <a:srgbClr val="1E293B"/>
                </a:solidFill>
                <a:latin typeface="Calibri"/>
              </a:rPr>
              <a:t>requisitos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Operadores de comparação e lógica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200400" cy="64008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0" y="1463040"/>
            <a:ext cx="768096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Comparação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00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onsolas"/>
              </a:rPr>
              <a:t>==   !=   &gt;   &lt;   &gt;=   &lt;=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3200400" cy="64008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40480" y="2286000"/>
            <a:ext cx="768096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onsolas"/>
              </a:rPr>
              <a:t>&amp;   &amp;&amp;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3200400" cy="64008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0" y="3108960"/>
            <a:ext cx="768096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onsolas"/>
              </a:rPr>
              <a:t>|   ||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200400" cy="64008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40480" y="3931920"/>
            <a:ext cx="768096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069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onsolas"/>
              </a:rPr>
              <a:t>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54880"/>
            <a:ext cx="3200400" cy="64008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840480" y="4754880"/>
            <a:ext cx="768096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Diversos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892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onsolas"/>
              </a:rPr>
              <a:t>:   %in%   %*%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booleanos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Compare 15 e 10 com &gt;, == e &lt;. Guarde a &lt;- 8 e b &lt;- 12 e teste a &lt; 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Calcule 17 %% 5 e 17 %/% 5. Explique a diferença.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9. if / else e lógica condicional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73743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Executa um bloco somente quando a condição for TRUE.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73743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Tomar decisões no código.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73743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 &lt;- 33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b &lt;- 200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if (b &gt; a)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print("b is greater than a")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"b is greater than a"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Se a condição for FALSE, o bloco é ignorado.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else 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613142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Permite testar uma segunda condição quando a primeira falhar.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613142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Encadear múltiplos testes.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613142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 &lt;- 33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b &lt;- 33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if (b &gt; a)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print("b is greater than a")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 else if (a == b)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print("a and b are equal")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"a and b are equal"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 segunda condição só é avaliada se a primeira for falsa.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if / else completo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12487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else trata o caso que não foi atendido pelas condições anteriores.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12487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Cobrir todos os cenários possíveis.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12487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a &lt;- 200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b &lt;- 33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if (b &gt; a)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print("b is greater than a")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} else if (a == b)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print("a and b are equal")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} else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print("a is greater than b")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160520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"a is greater than b"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Fluxo: condição 1 → condição 2 → caso restante.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if com else simples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298429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É possível usar apenas if e else.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298429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Decisão binária (sim/não).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298429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 &lt;- 200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b &lt;- 33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if (b &gt; a)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print("b is greater than a")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 else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print("b is not greater than a")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"b is not greater than a"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Duas saídas possíveis.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if aninhado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62190"/>
            <a:ext cx="2462222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 if pode conter outro 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462222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Refinar decisões em níveis.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462222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199"/>
            <a:ext cx="5577840" cy="3247463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x &lt;- 41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if (x &gt; 10)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print("Above ten")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if (x &gt; 20)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print("and also above 20!")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 else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print("but not above 20.")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 else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print("below 10.")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231" y="4983480"/>
            <a:ext cx="5577840" cy="1353312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 dirty="0" err="1">
                <a:solidFill>
                  <a:srgbClr val="167A4A"/>
                </a:solidFill>
                <a:latin typeface="Calibri"/>
              </a:rPr>
              <a:t>Resultado</a:t>
            </a:r>
            <a:endParaRPr sz="1200" b="1" dirty="0">
              <a:solidFill>
                <a:srgbClr val="167A4A"/>
              </a:solidFill>
              <a:latin typeface="Calibri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Acima de 10; e </a:t>
            </a:r>
            <a:r>
              <a:rPr sz="1300" b="0" dirty="0" err="1">
                <a:solidFill>
                  <a:srgbClr val="1E293B"/>
                </a:solidFill>
                <a:latin typeface="Consolas"/>
              </a:rPr>
              <a:t>também</a:t>
            </a:r>
            <a:r>
              <a:rPr sz="1300" b="0" dirty="0">
                <a:solidFill>
                  <a:srgbClr val="1E293B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Consolas"/>
              </a:rPr>
              <a:t>acima</a:t>
            </a:r>
            <a:r>
              <a:rPr sz="1300" b="0" dirty="0">
                <a:solidFill>
                  <a:srgbClr val="1E293B"/>
                </a:solidFill>
                <a:latin typeface="Consolas"/>
              </a:rPr>
              <a:t> de 20.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53492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507492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Aninhamento aumenta o detalhe, mas cuide da legibilidade.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AND (&amp;) em 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35569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Todas as condições precisam ser verdadeiras.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35569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Exigir múltiplos critérios simultaneamente.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35569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 &lt;- 200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b &lt;- 33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 &lt;- 500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if (a &gt; b &amp; c &gt; a)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print("Both conditions are true")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"Both conditions are true"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 &gt; b e c &gt; a — ambas verdadeiras.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OR (|) em 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351695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Basta que uma das condições seja verdadeira.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35169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Aceitar alternativas.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351695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 &lt;- 200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b &lt;- 33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c &lt;- 500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if (a &gt; b | a &gt; c)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print("At least one of the conditions is true")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"At least one of the conditions is true"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 &gt; b é TRUE, então o bloco executa mesmo com a &gt; c FALSE.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if/else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nota &lt;- 7. Se nota &gt;= 7, imprima "Aprovado"; senão, "Reprovado".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Inclua else if para "Recuperação" quando 5 &lt;= nota &lt; 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Teste se você entendeu — 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360" y="1333336"/>
            <a:ext cx="11247120" cy="2378772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E293B"/>
                </a:solidFill>
                <a:latin typeface="Calibri"/>
              </a:rPr>
              <a:t>O que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será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impresso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?
a &lt;- 10
b &lt;- 10
if (b &gt; a) {
  print("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maior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")
} else if (a == b) {
  print("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iguais</a:t>
            </a:r>
            <a:r>
              <a:rPr sz="1800" b="0" dirty="0">
                <a:solidFill>
                  <a:srgbClr val="1E293B"/>
                </a:solidFill>
                <a:latin typeface="Calibri"/>
              </a:rPr>
              <a:t>")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807544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3425" y="403614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1E293B"/>
                </a:solidFill>
                <a:latin typeface="Calibri"/>
              </a:rPr>
              <a:t>A) 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maior</a:t>
            </a:r>
            <a:endParaRPr sz="1800" b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455" y="4500977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3425" y="461958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1E293B"/>
                </a:solidFill>
                <a:latin typeface="Calibri"/>
              </a:rPr>
              <a:t>B) 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iguais</a:t>
            </a:r>
            <a:endParaRPr sz="1800" b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5511" y="5189441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991" y="533920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1E293B"/>
                </a:solidFill>
                <a:latin typeface="Calibri"/>
              </a:rPr>
              <a:t>C)  nada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455" y="5877905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3425" y="602420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1E293B"/>
                </a:solidFill>
                <a:latin typeface="Calibri"/>
              </a:rPr>
              <a:t>D)  </a:t>
            </a:r>
            <a:r>
              <a:rPr sz="1800" b="0" dirty="0" err="1">
                <a:solidFill>
                  <a:srgbClr val="1E293B"/>
                </a:solidFill>
                <a:latin typeface="Calibri"/>
              </a:rPr>
              <a:t>erro</a:t>
            </a:r>
            <a:endParaRPr sz="1800" b="0" dirty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Resposta — 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A4A"/>
                </a:solidFill>
                <a:latin typeface="Calibri"/>
              </a:rPr>
              <a:t>Resposta: B) iguais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Calibri"/>
              </a:rPr>
              <a:t>b &gt; a é FALSE. A segunda condição a == b é TRUE, então imprime "iguais".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10. while e for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Laços: ideia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Laços repetem um bloco de código.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while depende de uma condição.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for percorre uma sequência, vetor, lista ou estrutura semelhante.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Sempre pense em como o laço termina (evitar loop infinito).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while básico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440472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índice é incrementado para evitar um laço infinito.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440472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Repetir enquanto a condição for verdadeira.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440472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i &lt;- 1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while (i &lt; 6)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print(i)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i &lt;- i + 1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1, 2, 3, 4, 5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i aumenta a cada volta até a condição falhar.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while com break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550998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break encerra o laço antes do final natural.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550998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Parar cedo quando um critério for atingido.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550998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i &lt;- 1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while (i &lt; 6)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print(i)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i &lt;- i + 1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if (i == 4)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  break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160520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 dirty="0" err="1">
                <a:solidFill>
                  <a:srgbClr val="167A4A"/>
                </a:solidFill>
                <a:latin typeface="Calibri"/>
              </a:rPr>
              <a:t>Resultado</a:t>
            </a:r>
            <a:endParaRPr sz="1200" b="1" dirty="0">
              <a:solidFill>
                <a:srgbClr val="167A4A"/>
              </a:solidFill>
              <a:latin typeface="Calibri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1, 2, 3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54864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521208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Quando i se torna 4, break interrompe.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FFFFFF"/>
                </a:solidFill>
                <a:latin typeface="Calibri"/>
              </a:rPr>
              <a:t>Modelagem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Estatística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Avançada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 · 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Fundamentos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while com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914983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next pula a iteração atual e continua o laço.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914983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Ignorar um caso sem sair do laço.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914983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i &lt;- 0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while (i &lt; 6)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i &lt;- i + 1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if (i == 3)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  next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print(i)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160520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1, 2, 4, 5, 6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5577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4668767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O 3 é pulado.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while + if/else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417833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Exemplo de uma condição dentro do laço.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417833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Classificar cada iteração.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417833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dice &lt;- 1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while (dice &lt;= 6)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if (dice &lt; 6)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print("No Yahtzee")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 else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print("Yahtzee!")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dice &lt;- dice + 1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160520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“No Yahtzee” para 1–5 e “Yahtzee!” para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Combina repetição e decisão.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FFFFFF"/>
                </a:solidFill>
                <a:latin typeface="Calibri"/>
              </a:rPr>
              <a:t>Modelagem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Estatística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Avançada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 · 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Fundamentos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for sobre sequência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293546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Percorre 1 até 10.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293546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Iterar por uma sequência numérica.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293546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for (x in 1:10)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 a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92358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1:10 gera a sequência.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for sobre lista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360572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Percorre cada elemento de uma lista.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360572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Processar itens um a 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360572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fruits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for (x in fruits)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apple, banana, cherry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x assume cada elemento.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for sobre vetor (dados)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639775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Percorre os valores de um vetor.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63977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Iterar valores numéricos.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639775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dice &lt;- c(1, 2, 3, 4, 5, 6)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for (x in dice)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 a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c() cria o vetor percorrido.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for com break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60426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Interrompe quando encontra cherry.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604264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Parar ao achar um valor.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60426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fruits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for (x in fruits)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if (x == "cherry")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break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apple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banana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cherry não é impresso; o laço para.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for com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932738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Ignora banana, mas continua o laço.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932738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Pular um elemento específico.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932738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fruits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for (x in fruits)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if (x == "banana")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next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apple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cherry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banana é ignorada.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for + if/else: Yahtzee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236285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Exemplo prático que classifica cada resultado do dado.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23628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Combinar laço e mensagem personalizada.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236285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dice &lt;- 1:6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for(x in dice)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if (x == 6)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print(paste("The dice number is", x, "Yahtzee!"))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 else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print(paste("The dice number is", x, "Not Yahtzee"))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160520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 dirty="0" err="1">
                <a:solidFill>
                  <a:srgbClr val="167A4A"/>
                </a:solidFill>
                <a:latin typeface="Calibri"/>
              </a:rPr>
              <a:t>Resultado</a:t>
            </a:r>
            <a:endParaRPr sz="1200" b="1" dirty="0">
              <a:solidFill>
                <a:srgbClr val="167A4A"/>
              </a:solidFill>
              <a:latin typeface="Calibri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Para 1–5: Not Yahtzee; para 6: Yahtzee!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5590033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5315713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paste() monta a mensagem.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for aninhado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95049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 laço pode estar dentro de outro.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950494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Combinar dois conjuntos (produto cartesiano).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95049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adj &lt;- list("red", "big", "tasty")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fruits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for (x in adj)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for (y in fruits)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print(paste(x, y))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Combina cada adjetivo com cada fruta.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Para cada x, percorre todos os y.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laços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Use while para imprimir de 1 a 4. Depois use for (x in 1:4) print(x).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Crie fruits &lt;- list("uva", "maçã", "pera") e use next para pular "maçã".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11. Funções, aninhamento, recursão e escopo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Criar uma função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33793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function() para definir um bloco reutilizável.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337934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Encapsular código repetível.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33793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print("Hello World!")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 função é criada, mas não executada ainda.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Definir ≠ chamar.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Chamar uma função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293546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nome seguido de () executa a função.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293546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Rodar o bloco definido.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293546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print("Hello World!")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"Hello World!"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Os parênteses disparam a execução.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Função com argumento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577631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Valores podem ser recebidos como parâmetros.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57763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Generalizar o comportamento.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577631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fname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paste(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fname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 "Griffin")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("Peter")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("Lois")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("Stewie")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Peter Griffin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Lois Griffin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Stewie Griffin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O parâmetro fname muda a saída.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Dois argumentos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693041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Quando a função exige dois argumentos, a chamada deve fornecê-los.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69304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Passar múltiplas entradas.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693041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fname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lname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paste(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fname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lname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("Peter", "Griffin")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"Peter Griffin"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Ordem dos argumentos importa.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Quantidade incorreta de argumentos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426711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Chamar com menos argumentos gera erro quando não há valor padrão.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42671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Entender mensagens de erro.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426711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fname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lname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) {</a:t>
            </a:r>
          </a:p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paste(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fname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lname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("Peter")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Erro por argumento ausente.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Falta lname.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Valor padrão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613142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 parâmetro pode receber um valor padrão.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613142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Tornar a chamada opcionalmente mais curta.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613142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function(country = "Norway")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paste("I am from", country)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("Sweden")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("India")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("USA")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Sweden, India, Norway, USA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Sem argumento, usa Norway.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Valor retornado — return()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364567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return() explicita o resultado que a função devolve.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364567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Usar a saída em outros cálculos.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364567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function(x)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return (5 * 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print(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(3))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print(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(5))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print(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(9))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 dirty="0" err="1">
                <a:solidFill>
                  <a:srgbClr val="167A4A"/>
                </a:solidFill>
                <a:latin typeface="Calibri"/>
              </a:rPr>
              <a:t>Resultado</a:t>
            </a:r>
            <a:endParaRPr sz="1200" b="1" dirty="0">
              <a:solidFill>
                <a:srgbClr val="167A4A"/>
              </a:solidFill>
              <a:latin typeface="Calibri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15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25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45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 função devolve um valor, não só imprime.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Função dentro de função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71967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Uma função pode chamar outra função.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719674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Compor cálculos.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71967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Nested_function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function(x, y)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a &lt;- x + 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return(a)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Nested_function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Nested_function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(2,2),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Nested_function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(3,3))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(2+2) e (3+3) somam 10.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Função aninhada como retorno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595387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Uma função pode criar outra função e devolvê-la.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595387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Criar funções parametrizadas.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595387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Outer_func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function(x)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Inner_func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function(y)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a &lt;- x + 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return(a)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return(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Inner_func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output &lt;-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Outer_func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(3)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output(5)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160520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 dirty="0" err="1">
                <a:solidFill>
                  <a:srgbClr val="167A4A"/>
                </a:solidFill>
                <a:latin typeface="Calibri"/>
              </a:rPr>
              <a:t>Resultado</a:t>
            </a:r>
            <a:endParaRPr sz="1200" b="1" dirty="0">
              <a:solidFill>
                <a:srgbClr val="167A4A"/>
              </a:solidFill>
              <a:latin typeface="Calibri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 dirty="0">
                <a:solidFill>
                  <a:srgbClr val="1E293B"/>
                </a:solidFill>
                <a:latin typeface="Consolas"/>
              </a:rPr>
              <a:t>[1]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5271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4965192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x=3 fica “lembrado”; y=5 → 8.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Recursão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710797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Uma função recursiva chama a si mesma e precisa de uma condição de parada.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710797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Resolver problemas que se reduzem a casos menores.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710797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tri_recursion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function(k)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if (k &gt; 0)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result &lt;- k +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tri_recursion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(k - 1)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print(result)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 else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result = 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return(result)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tri_recursion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160520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 sequência termina no acumulado 6+5+4+3+2+1.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5577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5193792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Sem condição de parada → recursão infinita.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Variável global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275791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Uma variável criada fora da função pode ser lida dentro dela.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275791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Reutilizar configuração externa.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807156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txt &lt;- "awesome"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paste("R is", txt)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"R is awesome"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Leitura do escopo global.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Variável local com mesmo nome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764063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Uma variável criada dentro da função pode esconder temporariamente a global.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764063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Entender escopo local × global.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764063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txt &lt;- "global variable"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txt = "fantastic"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paste("R is", txt)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Dentro: fantastic; fora: global variable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 global não é alterada por = dentro da função.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Atribuição global &lt;&lt;-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524365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Pode alterar/criar uma variável no escopo global a partir da função.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524365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Atualizar estado global (use com cuidado).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524365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function()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txt &lt;&lt;- "fantastic"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paste("R is", txt)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my_function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print(txt)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 variável txt passa a existir no escopo global.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&lt;&lt;- escreve no global; &lt;- local não.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funções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saudacao &lt;- function(nome) { paste("Olá,", nome) } e chame com seu nome.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Crie dobrar &lt;- function(x) return(2 * x) e teste com 3 valores.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12. Estruturas de dados — visão geral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Cinco estruturas centrais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Vetores e matrizes: dados homogêneos (mesmo tipo).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Listas e data frames: podem combinar tipos diferentes.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Arrays: podem ter mais de duas dimensões.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Nas próximas seções, cada estrutura terá exemplos dedicados.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Visão geral — Vetor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39120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Estrutura básica para itens do mesmo tipo.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39120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Guardar sequências homogêneas.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39120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fruits &lt;- c("banana", "apple", "orange")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fruits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banana, apple, orange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c() concatena elementos.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Visão geral — Lista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19" y="1353312"/>
            <a:ext cx="2204769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Pode armazenar tipos diferentes.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2204769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Agrupar objetos heterogêneos.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234440"/>
            <a:ext cx="2204769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thislist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list("apple", "banana", 50, 100)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thislist</a:t>
            </a:r>
            <a:endParaRPr sz="1400" b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Lista contendo texto e números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Texto e números na mesma lista.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Visão geral — Matriz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249158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Estrutura bidimensional com linhas e colunas.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249158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Organizar dados em grade homogênea.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249158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matrix(c(1,2,3,4,5,6), nrow = 3, ncol = 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Matriz 3 ×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nrow e ncol definem dimensões.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Visão geral — Array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568754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Pode ter mais de duas dimensões.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568754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Dados multidimensionais.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697924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 err="1">
                <a:solidFill>
                  <a:srgbClr val="E2E8F0"/>
                </a:solidFill>
                <a:latin typeface="Consolas"/>
              </a:rPr>
              <a:t>thisarray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&lt;- c(1:24)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multiarray &lt;- array(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thisarray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 dim = c(4, 3, 2))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multiarray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Array 4 × 3 ×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dim controla as dimensões.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Visão geral — Data 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É semelhante a uma tabela e permite colunas de tipos diferentes.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Estrutura principal para análises tabulares.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 &lt;- data.frame(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Training = c("Strength", "Stamina", "Other"),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Pulse = c(100, 150, 120),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Duration = c(60, 30, 45)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Tabela com 3 linhas e 3 colunas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Cada coluna é um vetor; linhas são observações.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13. Vetores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Vetor de strings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c() para concatenar os elementos.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Listar categorias textuais.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 &lt;- c("banana", "apple", "orange")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banana, apple, orange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Todos os elementos são character.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Vetor numérico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mesmo princípio vale para números.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Armazenar medidas.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numbers &lt;- c(1, 2, 3)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numbers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1, 2, 3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Base de quase toda análise numérica.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Sequência inteira com 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operador : cria uma sequência.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Gerar índices e séries.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numbers &lt;- 1:10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numbers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1 2 3 4 5 6 7 8 9 10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Muito usado em for e plot.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Sequência decimal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 sequência também pode começar em decimal; o incremento implícito é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Gerar grades numéricas.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numbers1 &lt;- 1.5:6.5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numbers1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numbers2 &lt;- 1.5:6.3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numbers2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1.5 2.5 3.5 4.5 5.5 6.5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1.5 2.5 3.5 4.5 5.5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Para em 6.5; no segundo caso não chega a 6.3+.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Vetor lógico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TRUE e FALSE formam um vetor lógico.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Mascaras e filtros.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log_values &lt;- c(TRUE, FALSE, TRUE, FALSE)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log_values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TRUE FALSE TRUE FALSE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Usado em indexação condicional.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Comprimento — length()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length() informa quantos elementos existem.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Saber o tamanho do vetor.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 &lt;- c("banana", "apple", "orange")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length(fruits)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Essencial em laços e diagnósticos.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Ordenar — sort()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sort() ordena texto ou números.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Organizar valores.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 &lt;- c("banana", "apple", "orange", "mango", "lemon")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numbers &lt;- c(13, 3, 5, 7, 20, 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sort(fruits)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sort(numbers)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Texto em ordem alfabética; números em ordem crescente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Não altera o original a menos que você reatribua.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Acessar um elemento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R começa a indexação em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Selecionar posições.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 &lt;- c("banana", "apple", "orange")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fruits[1]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"banana"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Atenção: não começa em 0.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Acessar vários elementos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c() com os índices desejados.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Seleção não contígua.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 &lt;- c("banana", "apple", "orange", "mango", "lemon")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fruits[c(1, 3)]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"banana" "orange"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Índices 1 e 3.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Excluir por índice negativo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Índices negativos removem os elementos indicados da seleção.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Obter todos exceto alguns.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 &lt;- c("banana", "apple", "orange", "mango", "lemon")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fruits[c(-1)]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Todos, exceto o primeiro elemento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Não apaga o objeto original; cria seleção.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Alterar elemento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Atribua um novo valor ao índice desejado.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Corrigir ou atualizar dados.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 &lt;- c("banana", "apple", "orange")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fruits[1] &lt;- "blackcurrant"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fruits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blackcurrant, apple, orange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Substituição in-place no vetor.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vetores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notas &lt;- c(7, 8.5, 6, 9). Calcule length(notas), sort(notas) e notas[c(1,4)].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Substitua a segunda nota por 10 e exiba o vetor.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Teste se você entendeu — índice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14630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fruits &lt;- c("banana", "apple", "orange")
fruits[1]
O que aparece?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A)  apple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B)  banana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5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C)  orange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79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5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D)  Erro (índice começa em 0)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Resposta — índice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A4A"/>
                </a:solidFill>
                <a:latin typeface="Calibri"/>
              </a:rPr>
              <a:t>Resposta: B) banana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Calibri"/>
              </a:rPr>
              <a:t>Em R a indexação começa em 1. fruits[1] é o primeiro elemento: banana.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14. Listas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Criar lista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list() permite reunir elementos de diferentes tipos.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Agrupar objetos variados.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Lista com três strings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Diferença do vetor: tipagem mais flexível.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Acessar item da lista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 indexação começa em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Consultar um elemento.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thislist[1]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apple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thislist[1] retorna sublista; thislist[[1]] extrai o elemento.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Alterar item da lista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Atribua ao índice.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Atualizar conteúdo.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thislist[1] &lt;- "blackcurrant"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blackcurrant, banana, cherry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Mesma lógica de vetores.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Tamanho da lista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length() retorna o número de itens.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Contar elementos.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length(thislist)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Funciona como em vetores.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Verificar existência — %in%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%in% testa pertencimento.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Checar se um valor está na lista.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"apple" %in% thislist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Operador diverso visto antes.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Adicionar no final — append()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append() pode inserir um novo elemento.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Crescer a lista.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append(thislist, "orange")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Lista com orange no final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Retorna nova lista (reatribua se quiser guardar).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Adicionar após um índice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after para indicar a posição.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Inserir no meio.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append(thislist, "orange", after = 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apple, banana, orange, cherry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after = 2 coloca depois do 2º item.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Remover item da lista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Índice negativo cria uma nova lista sem o item indicado.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Excluir posições.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thislist &lt;- list("apple", "banana", "cherry")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newlist &lt;- thislist[-1]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newlist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banana, cherry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newlist é a lista sem o primeiro item.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listas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uma lista com seu nome, idade e uma cidade. Use length() e %in% para testar a cidade.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Use append() para adicionar a profissão após o 1º item.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15. Matrizes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Criar matriz numérica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matrix() recebe os valores e as dimensões.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Organizar números em linhas/colunas.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matrix(c(1,2,3,4,5,6), nrow = 3, ncol = 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Matriz 3 ×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Preenchimento padrão por coluna.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Matriz de strings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Matrizes também podem armazenar 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Tabelas homogêneas de categorias.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matrix(c("apple", "banana", "cherry", "orange"), nrow = 2, ncol = 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Matriz 2 ×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Todos os elementos do mesmo tipo.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Acessar célula [linha, coluna]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 sintaxe é [linha, coluna].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Ler uma posição específica.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matrix(c("apple", "banana", "cherry", "orange"), nrow = 2, ncol = 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thismatrix[1, 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"cherry"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Linha 1, coluna 2.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Acessar linha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Deixe a posição da coluna vazia.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Extrair uma linha inteira.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matrix(c("apple", "banana", "cherry", "orange"), nrow = 2, ncol = 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thismatrix[2,]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Segunda linha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Vírgula com coluna vazia = linha completa.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Acessar coluna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Deixe a posição da linha vazia.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Extrair uma coluna inteira.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matrix(c("apple", "banana", "cherry", "orange"), nrow = 2, ncol = 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thismatrix[,2]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Segunda coluna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Linha vazia, coluna 2.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Várias linhas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c() para selecionar mais de uma linha.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Submatriz por linhas.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matrix(c("apple", "banana", "cherry", "orange","grape", "pineapple", "pear", "melon", "fig"), nrow = 3, ncol = 3)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thismatrix[c(1,2),]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Linhas 1 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Seleção múltipla de linhas.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Várias colunas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c() para selecionar várias colunas.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Submatriz por colunas.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matrix(c("apple", "banana", "cherry", "orange","grape", "pineapple", "pear", "melon", "fig"), nrow = 3, ncol = 3)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thismatrix[, c(1,2)]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Colunas 1 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Seleção múltipla de colunas.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Adicionar coluna — cbind()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cbind() acrescenta uma coluna.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Expandir horizontalmente.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matrix(c("apple", "banana", "cherry", "orange","grape", "pineapple", "pear", "melon", "fig"), nrow = 3, ncol = 3)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newmatrix &lt;- cbind(thismatrix, c("strawberry", "blueberry", "raspberry"))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newmatrix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Matriz com uma nova coluna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O vetor precisa ter o número certo de linhas.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Adicionar linha — rbind()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rbind() acrescenta uma linha.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Expandir verticalmente.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matrix(c("apple", "banana", "cherry", "orange","grape", "pineapple", "pear", "melon", "fig"), nrow = 3, ncol = 3)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newmatrix &lt;- rbind(thismatrix, c("strawberry", "blueberry", "raspberry"))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newmatrix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Matriz com uma nova linha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O vetor precisa ter o número certo de colunas.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Remover linha e coluna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Índices negativos removem posições.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Reduzir a matriz.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matrix(c("apple", "banana", "cherry", "orange", "mango", "pineapple"), nrow = 3, ncol = 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thismatrix[-c(1), -c(1)]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Remove a primeira linha e a primeira coluna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Reatribuição atualiza o objeto.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Verificar pertencimento na matriz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%in% verifica se um valor aparece na matriz.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Buscar elemento.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thismatrix &lt;- matrix(c("apple", "banana", "cherry", "orange"), nrow = 2, ncol = 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"apple" %in% thismatrix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Mesmo operador das listas.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matrizes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uma matriz 2×3 com números de 1 a 6. Acesse a célula [1,2] e a segunda coluna.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Use cbind() para adicionar uma coluna e rbind() para adicionar uma linha.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16. Arrays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Criar array multidimensional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array() permite definir várias dimensões com dim.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Dados além de 2D.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thisarray &lt;- c(1:24)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thisarray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 &lt;- array(thisarray, dim = c(4, 3, 2))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Array com dimensões 4 × 3 ×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24 elementos = 4*3*2.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Acessar posição no array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 sintaxe é [linha, coluna, nível].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Ler uma célula 3D.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thisarray &lt;- c(1:24)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 &lt;- array(thisarray, dim = c(4, 3, 2))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multiarray[2, 3, 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Valor da posição indicada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Três índices para três dimensões.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Acessar linha/coluna no array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A combinação de vírgulas e índices seleciona partes da estrutura.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Fatiar o array.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thisarray &lt;- c(1:24)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 &lt;- array(thisarray, dim = c(4, 3, 2))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multiarray[c(1),,1]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multiarray[,c(1),1]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Primeiro: linha 1 do nível 1; segundo: coluna 1 do nível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Vírgulas vazias = “todas as posições” daquela dimensão.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Verificar valor no array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%in%.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Testar presença.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thisarray &lt;- c(1:24)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 &lt;- array(thisarray, dim = c(4, 3, 2))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2 %in% multiarray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Funciona como em vetores/matrizes.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Dimensões — dim()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dim() retorna as dimensões do array.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Inspecionar formato.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thisarray &lt;- c(1:24)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 &lt;- array(thisarray, dim = c(4, 3, 2))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dim(multiarray)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4 3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Útil para validar a estrutura.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Comprimento do array — length()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length() retorna o número total de elementos.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Contar células.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thisarray &lt;- c(1:24)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 &lt;- array(thisarray, dim = c(4, 3, 2))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length(multiarray)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Produto das dimensões.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Percorrer array com for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 array pode ser percorrido elemento a elemento.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Iterar todos os valores.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thisarray &lt;- c(1:24)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multiarray &lt;- array(thisarray, dim = c(4, 3, 2))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for(x in multiarray){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print(x)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Os valores são impressos sequencialmente.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 ordem segue o armazenamento interno.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arrays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um array com 1:12 e dim = c(2, 3, 2). Use dim() e length().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Acesse multiarray[1, 2, 1] e explique o significado de cada índice.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17. Data frames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Criar data 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data.frame() cria uma estrutura tabular com colunas.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Organizar dados como tabela de análise.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 &lt;- data.frame(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Training = c("Strength", "Stamina", "Other"),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Pulse = c(100, 150, 120),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Duration = c(60, 30, 45)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Tabela com Training, Pulse e Duration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Estrutura mais usada em estatística aplicada.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Resumo — summary()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summary() fornece um resumo estatístico das colunas.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Exploração inicial rápida.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 &lt;- data.frame(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Training = c("Strength", "Stamina", "Other"),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Pulse = c(100, 150, 120),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Duration = c(60, 30, 45)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summary(Data_Frame)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Resumo com estatísticas das colunas numéricas e informações da coluna de texto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Primeiro olhar antes de modelar.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Acessar coluna (3 formas)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Há três formas mostradas no tutorial.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Selecionar variáveis.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 &lt;- data.frame(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Training = c("Strength", "Stamina", "Other"),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Pulse = c(100, 150, 120),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Duration = c(60, 30, 45)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Data_Frame[1]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Data_Frame[["Training"]]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Data_Frame$Training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160520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As três formas acessam a coluna Training, conforme a expressão usada.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$ é a forma mais comum no dia a dia.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Adicionar linha — rbind()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rbind() acrescenta uma observação.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Incluir novos casos.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 &lt;- data.frame(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Training = c("Strength", "Stamina", "Other"),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Pulse = c(100, 150, 120),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Duration = c(60, 30, 45)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New_row_DF &lt;- rbind(Data_Frame, c("Strength", 110, 110))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New_row_DF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Data frame com uma nova linha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Cuidado com tipos ao usar c().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Adicionar coluna — cbind()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cbind() acrescenta uma variável.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Incluir nova medida.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 &lt;- data.frame(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Training = c("Strength", "Stamina", "Other"),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Pulse = c(100, 150, 120),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Duration = c(60, 30, 45)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New_col_DF &lt;- cbind(Data_Frame, Steps = c(1000, 6000, 2000))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New_col_DF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Data frame com a coluna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O comprimento deve bater com o número de linhas.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Remover linha e coluna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índices negativos para retirar posições.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Limpar a tabela.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 &lt;- data.frame(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Training = c("Strength", "Stamina", "Other"),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Pulse = c(100, 150, 120),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Duration = c(60, 30, 45)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Data_Frame_New &lt;- Data_Frame[-c(1), -c(1)]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Data_Frame_New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Primeira linha e primeira coluna removidas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Gera um novo data frame reduzido.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Dimensões — dim()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dim() informa linhas e colunas.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Saber o tamanho da tabela.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 &lt;- data.frame(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Training = c("Strength", "Stamina", "Other"),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Pulse = c(100, 150, 120),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Duration = c(60, 30, 45)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dim(Data_Frame)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3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3 observações × 3 variáveis.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ncol() e nrow()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ncol() e nrow() retornam as quantidades separadamente.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Obter só linhas ou só colunas.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Data_Frame &lt;- data.frame(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Training = c("Strength", "Stamina", "Other"),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Pulse = c(100, 150, 120),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Duration = c(60, 30, 45)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ncol(Data_Frame)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nrow(Data_Frame)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3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Alternativa a dim().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data frames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um data frame com Nome, Idade e Nota (3 alunos). Use summary() e $Nota.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Adicione a coluna Curso com cbind() e uma nova linha com rbind().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18. Fatores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Por que fatores importam?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Fatores representam categorias (gênero, gênero musical, tipo de treinamento).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São especialmente importantes em análises estatísticas.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Permitem tratar categorias de maneira explícita (níveis).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Nota didática: em regressão/ANOVA, fatores definem grupos comparados.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Criar fator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factor() transforma um vetor categórico em fator e cria níveis.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Declarar variável categórica.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music_genre &lt;- factor(c("Jazz", "Rock", "Classic", "Classic", "Pop", "Jazz", "Rock", "Jazz"))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music_genre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Levels: Classic Jazz Pop Rock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Níveis são as categorias únicas.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Listar níveis — levels()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levels() mostra apenas as categorias.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Inspecionar as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music_genre &lt;- factor(c("Jazz", "Rock", "Classic", "Classic", "Pop", "Jazz", "Rock", "Jazz"))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levels(music_genre)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Classic, Jazz, Pop, Rock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Ordem alfabética padrão (quando não definida).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Definir níveis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argumento levels permite controlar a lista de categorias.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Incluir níveis mesmo sem observações.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music_genre &lt;- factor(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c("Jazz", "Rock", "Classic", "Classic", "Pop", "Jazz", "Rock", "Jazz"),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levels = c("Classic", "Jazz", "Pop", "Rock", "Other")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levels(music_genre)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Inclui também Other como nível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Útil para padronizar categorias em estudos.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Comprimento do fator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length() informa o número de observações.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Contar casos, não níveis.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music_genre &lt;- factor(c("Jazz", "Rock", "Classic", "Classic", "Pop", "Jazz", "Rock", "Jazz"))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length(music_genre)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8 observações; 4 níveis.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Acessar item do fator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Use o índice do fator.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Ler uma observação categórica.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music_genre &lt;- factor(c("Jazz", "Rock", "Classic", "Classic", "Pop", "Jazz", "Rock", "Jazz"))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music_genre[3]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Classic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Indexação começa em 1.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Alterar item do fator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Pode-se trocar para um nível que já exista no fator.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Corrigir categorização.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music_genre &lt;- factor(c("Jazz", "Rock", "Classic", "Classic", "Pop", "Jazz", "Rock", "Jazz"))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music_genre[3] &lt;- "Pop"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music_genre[3]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Pop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Trocar para nível inexistente exige cuidado/ajuste de levels.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fatores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um fator turno com valores "Manhã", "Tarde", "Noite" (repita alguns). Veja levels() e length().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Defina levels incluindo "Madrugada" mesmo sem observações.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19. Gráficos: plot, linha, dispersão, pizza e barras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Plot básico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plot() cria pontos em um sistema x-y.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Visualizar posições.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plot(1,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Um ponto na posição (1, 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Primeiro gráfico do tutorial.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Dois pontos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Vetores permitem desenhar vários pontos.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Comparar duas coordenadas.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plot(c(1, 8), c(3, 10))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Dois pontos: (1,3) e (8,10)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x e y em vetores.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Vários pontos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Os vetores x e y devem ter o mesmo tamanho.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Séries de observações.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plot(c(1, 2, 3, 4, 5), c(3, 7, 8, 9, 12))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Cinco pontos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Comprimentos iguais.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Pontos com variáveis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Guardar os vetores em objetos melhora a organização.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Código mais legível.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c(1, 2, 3, 4, 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y &lt;- c(3, 7, 8, 9, 12)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plot(x, 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Gráfico x-y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Padrão recomendado.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Sequência 1:10 no plot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operador : gera a sequência usada nos dois eixos.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Gráfico rápido de sequência.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plot(1:10)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Pontos de 1 a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y = x neste caso.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Gráfico de linha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type="l" conecta os pontos.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Mostrar tendência contínua.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plot(1:10, type="l")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Gráfico de linha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l = line.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Rótulos do gráfico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main, xlab e ylab personalizam o título e os eixos.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Tornar o gráfico interpretável.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plot(1:10, main="My Graph", xlab="The x-axis", ylab="The y axis")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Gráfico com título e rótulos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Sempre rotule eixos em trabalhos.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Aparência dos pontos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col, cex e pch alteram cor, tamanho e formato.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Destacar visualmente.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plot(1:10, col="red")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plot(1:10, cex=2)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plot(1:10, pch=25, cex=2)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Três exemplos de aparência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Parâmetros estéticos do plot base.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Linha com parâmetros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Cor, espessura e estilo da linha.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Personalizar séries.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plot(1:10, type="l", col="blue")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plot(1:10, type="l", lwd=2)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plot(1:10, type="l", lwd=5, lty=3)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Cor azul; linha mais espessa; linha pontilhada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lwd = largura; lty = tipo.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Múltiplas linhas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lines() adiciona uma segunda série ao mesmo gráfico.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Comparar duas séries.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line1 &lt;- c(1,2,3,4,5,10)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line2 &lt;- c(2,5,7,8,9,10)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plot(line1, type = "l", col = "blue")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lines(line2, type="l", col = "red")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Duas séries no mesmo gráfico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plot cria; lines adiciona.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Scatter plot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Um gráfico de dispersão mostra a relação entre duas variáveis numéricas.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Explorar associação.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c(5,7,8,7,2,2,9,4,11,12,9,6)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y &lt;- c(99,86,87,88,111,103,87,94,78,77,85,86)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plot(x, 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12 observações representadas como pontos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Base da análise bivariada.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Scatter com rótulos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Título e nomes dos eixos ajudam a interpretar o gráfico.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Comunicar o significado das variáveis.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c(5,7,8,7,2,2,9,4,11,12,9,6)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y &lt;- c(99,86,87,88,111,103,87,94,78,77,85,86)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plot(x, y, main="Observation of Cars", xlab="Car age", ylab="Car speed")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Idade do carro no eixo x e velocidade no eixo 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Boa prática de visualização.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Comparar dois conjuntos — points()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points() adiciona outra série de observações ao gráfico.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Sobrepor grupos.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x1 &lt;- c(5,7,8,7,2,2,9,4,11,12,9,6)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y1 &lt;- c(99,86,87,88,111,103,87,94,78,77,85,86)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x2 &lt;- c(2,2,8,1,15,8,12,9,7,3,11,4,7,14,12)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y2 &lt;- c(100,105,84,105,90,99,90,95,94,100,79,112,91,80,85)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plot(x1, y1, main="Observation of Cars", xlab="Car age", ylab="Car speed", col="red", cex=2)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points(x2, y2, col="blue", cex=2)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Dois dias de observação no mesmo gráfico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Cores diferenciam os conjuntos.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Gráfico de pizza — pie()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pie() representa cada valor como uma fatia proporcional.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Mostrar composição.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c(10,20,30,40)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pie(x)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Fatia de cada valor proporcional à soma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Bom para partes de um todo.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Pizza com ângulo inicial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init.angle altera o ângulo inicial.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Controlar a rotação das fatias.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c(10,20,30,40)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pie(x, init.angle = 90)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Primeira fatia começa em 90°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Ajuste visual.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Pizza com rótulos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label e main adicionam nomes e título.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Identificar categorias.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c(10,20,30,40)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mylabel &lt;- c("Apples", "Bananas", "Cherries", "Dates")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pie(x, label = mylabel, main = "Fruits")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Pizza rotulada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Sem rótulos, a pizza perde sentido.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Pizza com cores e legenda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col define cores e legend() explica as categorias.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Melhorar leitura.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c(10,20,30,40)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mylabel &lt;- c("Apples", "Bananas", "Cherries", "Dates")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colors &lt;- c("blue", "yellow", "green", "black")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pie(x, label = mylabel, main = "Pie Chart", col = colors)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legend("bottomright", mylabel, fill = colors)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Pizza com legenda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Legenda complementar aos labels.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Gráfico de barras — barplot()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barplot() cria barras; names.arg define os nomes.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Comparar categorias.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c("A", "B", "C", "D")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y &lt;- c(2, 4, 6, 8)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barplot(y, names.arg = 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Barras A–D com valores 2, 4, 6 e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Muito usado em frequências.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Barras com aparência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Cor, textura, largura e orientação horizontal.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Variar o visual do barplot.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x &lt;- c("A", "B", "C", "D")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y &lt;- c(2, 4, 6, 8)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barplot(y, names.arg = x, col = "red")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barplot(y, names.arg = x, density = 10)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barplot(y, names.arg = x, width = c(1,2,3,4))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barplot(y, names.arg = x, horiz = TRUE)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Quatro variações do mesmo gráfico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horiz = TRUE deixa as barras horizontais.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gráficos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x &lt;- 1:8 e y &lt;- c(3,5,4,7,6,9,8,10). Faça plot(x,y) e depois type="l".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Faça um barplot com categorias "A","B","C" e valores 5, 3, 8, com título.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20. Estatística e o conjunto mtcars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Conjunto mtcars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Contém dados de 32 automóveis e 11 variáveis.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Já está disponível no conjunto de dados padrão do R.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É usado nas páginas estatísticas do tutorial para demonstrar funções de análise.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Visualizar mtcars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objeto já está disponível no 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Ver a tabela completa.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mtcars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Exibe as 32 observações e 11 variáveis.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Digite mtcars no Console.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Documentação — ?mtcars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operador ? abre a documentação do conjunto de dados.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Entender o significado das variáveis.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?mtcars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Abre a documentação de mtcars no R/RStudio.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Sempre leia o help dos dados.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Dimensões e nomes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dim() mostra linhas e colunas; names() mostra os nomes das variáveis.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Mapear a estrutura.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 &lt;- mtcars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dim(Data_Cars)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names(Data_Cars)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dim = 32 × 11; names inclui mpg, cyl, disp, hp, drat, wt, qsec, vs, am, gear, carb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Primeiro passo de qualquer exploração.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Valores de uma variável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$ acessa uma coluna do data frame.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Extrair uma variável.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 &lt;- mtcars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Data_Cars$cyl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Vetor com os valores de cilindros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Base para mean(), hist etc.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Ordenar variável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sort() organiza os valores.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Ver distribuição ordenada.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 &lt;- mtcars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sort(Data_Cars$cyl)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Valores de cyl em ordem crescente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Ajuda a ver repetição de categorias.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Resumo estatístico — summary()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summary() produz min, quartis, mediana, média e máximo para variáveis numéricas.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Diagnóstico descritivo completo e rápido.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 &lt;- mtcars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summary(Data_Cars)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Resumo estatístico do conjunto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Um dos comandos mais usados em análise exploratória.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Variáveis principais de mtcars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577840" cy="594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44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mpg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3441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milhas por galão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55778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29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cyl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0299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número de cilindros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5577840" cy="594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15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disp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715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cilindrada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778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hp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4015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potência bruta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77639"/>
            <a:ext cx="5577840" cy="594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087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drat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087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relação do eixo traseiro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55778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773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7731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peso em milhares de libras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234440"/>
            <a:ext cx="5577840" cy="594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1344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qsec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3441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tempo de 1/4 de milha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920240"/>
            <a:ext cx="55778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029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vs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20299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tipo de motor: 0 V, 1 em linha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606040"/>
            <a:ext cx="5577840" cy="594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2715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2715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transmissão: 0 automática, 1 manual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291840"/>
            <a:ext cx="55778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3401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gear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34015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número de marchas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977639"/>
            <a:ext cx="5577840" cy="594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4087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4A"/>
                </a:solidFill>
                <a:latin typeface="Consolas"/>
              </a:rPr>
              <a:t>carb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087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número de carburadores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1430000" cy="13716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21. Máximo, mínimo, média, mediana, moda e percentis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Máximo e mínimo (hp)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No exemplo do tutorial, hp é analisado para descobrir os extremos.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Medir amplitude.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 &lt;- mtcars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max(Data_Cars$hp)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min(Data_Cars$hp)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335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52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Extremos de potência.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Média — mean()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mean() calcula a média de uma variável.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Resumir o centro aritmético.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 &lt;- mtcars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mean(Data_Cars$wt)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3.21725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Centro sensível a valores extremos.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Mediana — median()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median() encontra o valor central após a ordenação; com n par, média dos dois centrais.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Centro robusto à assimetria.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 &lt;- mtcars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median(Data_Cars$wt)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3.325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Compare com a média.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Moda (construção manual)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O R não oferece uma função básica chamada mode() para esse sentido estatístico; o tutorial constrói com table(), sort() e indexação.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Encontrar o valor mais frequente.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 &lt;- mtcars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names(sort(-table(Data_Cars$wt)))[1]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[1] "3.44"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Nota didática: mode() em R base não é “moda estatística”.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Percentil específico — quantile()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quantile() calcula percentis; 0.75 representa o percentil 75.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Posição relativa na distribuição.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 &lt;- mtcars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quantile(Data_Cars$wt, c(0.75))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75% = 3.61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75% dos pesos estão até 3.61.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Quartis e extremos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1463040" cy="292608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O que 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Sem especificar probabilidades, quantile() retorna 0%, 25%, 50%, 75% e 100%.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1463040" cy="292608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Calibri"/>
              </a:rPr>
              <a:t>Resumo de cinco números.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1463040" cy="292608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Exemplo em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577840" cy="2148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Data_Cars &lt;- mtcars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quantile(Data_Cars$wt)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577840" cy="10515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200" b="1">
                <a:solidFill>
                  <a:srgbClr val="167A4A"/>
                </a:solidFill>
                <a:latin typeface="Calibri"/>
              </a:rPr>
              <a:t>Resultado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0% 1.51300; 25% 2.58125; 50% 3.32500; 75% 3.61000; 100% 5.42400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338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6B6B"/>
                </a:solidFill>
                <a:latin typeface="Calibri"/>
              </a:rPr>
              <a:t>Na prática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Base da análise exploratória descritiva.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Interpretação estatística (do tutorial)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Extremos ajudam a identificar amplitude.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Média resume o centro aritmético.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Mediana representa o centro robusto à assimetria.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Percentis ajudam a entender a posição relativa das observações.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Esse conjunto de funções é a base da análise exploratória.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Exercício — descritivas com mtcars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Calcule max, min e mean de mpg. Depois median e quantile de hp.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Compare mean(wt) e median(wt). Eles são próximos? O que isso sugere?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Teste se você entendeu — descritivas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14630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Qual comando devolve os quartis 0%, 25%, 50%, 75% e 100% de wt?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A)  mean(Data_Cars$wt)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B)  summary(wt)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5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C)  quantile(Data_Cars$wt)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79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5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D)  sort(Data_Cars$wt)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Resposta — descritivas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A4A"/>
                </a:solidFill>
                <a:latin typeface="Calibri"/>
              </a:rPr>
              <a:t>Resposta: C) quantile(Data_Cars$wt)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Calibri"/>
              </a:rPr>
              <a:t>Sem vetor de probabilidades, quantile() retorna os cinco números: mínimo, Q1, mediana, Q3 e máximo.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Fundamentos de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22. Checklist final do aluno (Tutorial)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☐ Criar e consultar variáveis com &lt;-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☐ Distinguir número, texto, lógico, inteiro e complexo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☐ Usar operadores aritméticos, de comparação e lógicos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☐ Escrever if/else, while e for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☐ Criar funções com argumentos, valores padrão e retorno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☐ Entender escopo local e global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☐ Manipular vetores, listas, matrizes, arrays e data frames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☐ Usar fatores; criar gráficos; explorar mtcars com funções descritivas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5C26"/>
                </a:solidFill>
                <a:latin typeface="Calibri"/>
              </a:rPr>
              <a:t>BLOCO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Consolidação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Exercícios, revisão e desafios práticos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UniEVANGÉLICA  ·  Modelagem Estatística Avançada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Consolidação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Desafio prático 1 — cadastro simples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variáveis nome, idade e curso. Use paste() para montar uma frase de apresentação e print() para exibir.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Transforme curso em fator e mostre levels().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Consolidação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Desafio prático 2 — mini tabela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Crie um data frame com 4 alunos: Nome, Nota1, Nota2. Calcule uma coluna Media = (Nota1+Nota2)/2 (adicione com cbind ou $).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Use summary() e identifique a maior média com max().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Consolidação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Desafio prático 3 — gráfico + descritivas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926080"/>
          </a:xfrm>
          <a:prstGeom prst="round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Calibri"/>
              </a:rP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Com mtcars, faça plot(wt, mpg) com título e rótulos. Calcule correlação visualmente e depois mean(mpg) e median(mpg).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112471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B"/>
                </a:solidFill>
                <a:latin typeface="Calibri"/>
              </a:rPr>
              <a:t>Desafio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Faça barplot da tabela de cyl (dica: table(mtcars$cyl)).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Não olhe a resposta ainda — execute no RStudio e confira o Console.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Consolidação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Revisão rápida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14630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Qual afirmação é correta?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A)  RStudio é o compilador do 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B)  R é a IDE e RStudio executa o código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5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C)  R é o motor estatístico; RStudio é a 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79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5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D)  Não é preciso instalar o R se o RStudio estiver instalado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Consolidação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Resposta — Revisão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A4A"/>
                </a:solidFill>
                <a:latin typeface="Calibri"/>
              </a:rPr>
              <a:t>Resposta: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Calibri"/>
              </a:rPr>
              <a:t>Conforme o material de requisitos: R é o motor; RStudio é a interface (IDE). O R deve ser instalado primeiro.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Consolidação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Revisão rápida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14630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O que acontece?
num &lt;- 5
text &lt;- "ok"
num +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A)  [1] "5 ok"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B)  [1]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5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C)  Erro: non-numeric argument...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79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5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D)  [1] TRUE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Consolidação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Resposta — Revisão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A4A"/>
                </a:solidFill>
                <a:latin typeface="Calibri"/>
              </a:rPr>
              <a:t>Resposta: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Calibri"/>
              </a:rPr>
              <a:t>Não se usa + para juntar número e texto. Use paste(num, text).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Consolidação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Revisão rápida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14630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Calibri"/>
              </a:rPr>
              <a:t>Em R, fruits[1] com fruits &lt;- c("a","b","c") retorna: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A) 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B) 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5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C) 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799"/>
            <a:ext cx="112471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5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D)  erro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Consolidação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Resposta — Revisão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7A4A"/>
                </a:solidFill>
                <a:latin typeface="Calibri"/>
              </a:rPr>
              <a:t>Resposta: B)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Calibri"/>
              </a:rPr>
              <a:t>Indexação em R começa em 1.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5C26"/>
                </a:solidFill>
                <a:latin typeface="Calibri"/>
              </a:rPr>
              <a:t>BLOCO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Preparação para Modelagem Estatística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Como os fundamentos se conectam à disciplina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UniEVANGÉLICA  ·  Modelagem Estatística Avançada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Trilha até a Modelagem Estatística Avançada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43200"/>
            <a:ext cx="1117600" cy="146304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3154680"/>
            <a:ext cx="971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480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57680" y="2743200"/>
            <a:ext cx="1117600" cy="146304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30832" y="3154680"/>
            <a:ext cx="971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Manipulação
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956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2440" y="2743200"/>
            <a:ext cx="1117600" cy="146304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85592" y="3154680"/>
            <a:ext cx="971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Visualização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432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7200" y="2743200"/>
            <a:ext cx="1117600" cy="146304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0352" y="3154680"/>
            <a:ext cx="971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Estatística
descritiva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908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21960" y="2743200"/>
            <a:ext cx="1117600" cy="146304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95112" y="3154680"/>
            <a:ext cx="971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Regressão
Linear
Múltipla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384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76719" y="2743200"/>
            <a:ext cx="1117600" cy="146304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49872" y="3154680"/>
            <a:ext cx="971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ANOVA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599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1480" y="2743200"/>
            <a:ext cx="1117600" cy="146304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04632" y="3154680"/>
            <a:ext cx="971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ANCOVA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336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6240" y="2743200"/>
            <a:ext cx="1117600" cy="146304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59392" y="3154680"/>
            <a:ext cx="971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5812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41000" y="2743200"/>
            <a:ext cx="1117600" cy="146304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14152" y="3154680"/>
            <a:ext cx="971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Modelagem
Avançada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Como o que você aprendeu será usado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Variáveis, vetores e data frames → organizar dados da pesquisa.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Fatores → definir grupos em ANOVA/ANCOVA.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Gráficos (plot/ggplot2) → diagnóstico visual e comunicação.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mean, median, quantile, summary → exploração antes de modelar.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Funções e scripts → automatizar etapas e garantir reprodutibilidade.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Pacotes do curso (car, lmtest, performance, emmeans, broom) → diagnóstico e apresentação de modelos.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Próximo passo natural (tutorial): análise exploratória, regressão, ANOVA/ANCOVA, GLM, mistos, não paramétricos, séries e validação.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UniEVANGÉLICA  ·  Tutorial de R + Preparação do ambiente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Lembrete final de ambiente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Tenha R + RStudio Desktop instalados.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Pacotes do curso instalados e testados.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Trabalhe com Projeto_Modelagem (dados / scripts / resultados).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Prefira scripts .R ao digitar tudo no Console.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Não altere o arquivo original de dados; crie versão tratada.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Modelagem Estatística Avançada  · 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  <a:latin typeface="Calibri"/>
              </a:rPr>
              <a:t>UniEVANGÉLICA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·  Tutorial de R + 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Preparação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do 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ambiente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R/RStudio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C4A"/>
                </a:solidFill>
                <a:latin typeface="Calibri"/>
              </a:rPr>
              <a:t>Referências bibliográficas e fontes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1. W3Schools. R Tutorial. Disponível em: https://www.w3schools.com/r/ Consulta em: 11/08/2026.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2. W3Schools. R Examples. Disponível em: https://www.w3schools.com/r/r_examples.asp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3. W3Schools. R Syllabus. Disponível em: https://www.w3schools.com/r/r_syllabus.asp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4. R Core Team. R: A Language and Environment for Statistical Computing. R Foundation for Statistical Computing, Vienna, Austria. https://www.R-project.org/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5. Posit / RStudio. RStudio Desktop. Documentação e download: https://posit.co/download/rstudio-desktop/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6. Wickham, H.; Grolemund, G. R for Data Science. O’Reilly. https://r4ds.hadley.nz/ (leitura complementar).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7. Material do curso: Requisitos_para_uso_do_R_RStudio.pdf — UniEVANGÉLICA, Modelagem Estatística Avançada.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8. Material do curso: Tutorial_R_W3Schools_PT_BR.pdf — guia prático em português seguindo a sequência do W3Schools.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9. Pacotes citados no material de requisitos: ggplot2, dplyr, car, lmtest, performance, emmeans, broom (CRAN).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0600" y="2052517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Calibri"/>
              </a:rPr>
              <a:t>Pronto para as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próximas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aulas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 err="1">
                <a:solidFill>
                  <a:srgbClr val="CBD5E1"/>
                </a:solidFill>
                <a:latin typeface="Calibri"/>
              </a:rPr>
              <a:t>Ambiente</a:t>
            </a:r>
            <a:r>
              <a:rPr sz="1800" b="1" dirty="0">
                <a:solidFill>
                  <a:srgbClr val="CBD5E1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CBD5E1"/>
                </a:solidFill>
                <a:latin typeface="Calibri"/>
              </a:rPr>
              <a:t>preparado</a:t>
            </a:r>
            <a:r>
              <a:rPr sz="1800" b="1" dirty="0">
                <a:solidFill>
                  <a:srgbClr val="CBD5E1"/>
                </a:solidFill>
                <a:latin typeface="Calibri"/>
              </a:rPr>
              <a:t> · </a:t>
            </a:r>
            <a:r>
              <a:rPr sz="1800" b="1" dirty="0" err="1">
                <a:solidFill>
                  <a:srgbClr val="CBD5E1"/>
                </a:solidFill>
                <a:latin typeface="Calibri"/>
              </a:rPr>
              <a:t>Fundamentos</a:t>
            </a:r>
            <a:r>
              <a:rPr sz="1800" b="1" dirty="0">
                <a:solidFill>
                  <a:srgbClr val="CBD5E1"/>
                </a:solidFill>
                <a:latin typeface="Calibri"/>
              </a:rPr>
              <a:t> de R </a:t>
            </a:r>
            <a:r>
              <a:rPr sz="1800" b="1" dirty="0" err="1">
                <a:solidFill>
                  <a:srgbClr val="CBD5E1"/>
                </a:solidFill>
                <a:latin typeface="Calibri"/>
              </a:rPr>
              <a:t>consolidados</a:t>
            </a:r>
            <a:r>
              <a:rPr sz="1800" b="1" dirty="0">
                <a:solidFill>
                  <a:srgbClr val="CBD5E1"/>
                </a:solidFill>
                <a:latin typeface="Calibri"/>
              </a:rPr>
              <a:t> · </a:t>
            </a:r>
            <a:r>
              <a:rPr sz="1800" b="1" dirty="0" err="1">
                <a:solidFill>
                  <a:srgbClr val="CBD5E1"/>
                </a:solidFill>
                <a:latin typeface="Calibri"/>
              </a:rPr>
              <a:t>Caminho</a:t>
            </a:r>
            <a:r>
              <a:rPr sz="1800" b="1" dirty="0">
                <a:solidFill>
                  <a:srgbClr val="CBD5E1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CBD5E1"/>
                </a:solidFill>
                <a:latin typeface="Calibri"/>
              </a:rPr>
              <a:t>aberto</a:t>
            </a:r>
            <a:r>
              <a:rPr sz="1800" b="1" dirty="0">
                <a:solidFill>
                  <a:srgbClr val="CBD5E1"/>
                </a:solidFill>
                <a:latin typeface="Calibri"/>
              </a:rPr>
              <a:t> para </a:t>
            </a:r>
            <a:r>
              <a:rPr sz="1800" b="1" dirty="0" err="1">
                <a:solidFill>
                  <a:srgbClr val="CBD5E1"/>
                </a:solidFill>
                <a:latin typeface="Calibri"/>
              </a:rPr>
              <a:t>modelagem</a:t>
            </a:r>
            <a:r>
              <a:rPr sz="1800" b="1" dirty="0">
                <a:solidFill>
                  <a:srgbClr val="CBD5E1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CBD5E1"/>
                </a:solidFill>
                <a:latin typeface="Calibri"/>
              </a:rPr>
              <a:t>estatística</a:t>
            </a:r>
            <a:endParaRPr sz="1800" b="1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err="1">
                <a:solidFill>
                  <a:srgbClr val="FFFFFF"/>
                </a:solidFill>
                <a:latin typeface="Calibri"/>
              </a:rPr>
              <a:t>UniEVANGÉLICA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 · 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Modelagem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Estatística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Avançada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 ·  2026.2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317</TotalTime>
  <Words>22419</Words>
  <Application>Microsoft Office PowerPoint</Application>
  <PresentationFormat>Widescreen</PresentationFormat>
  <Paragraphs>3435</Paragraphs>
  <Slides>264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264</vt:i4>
      </vt:variant>
    </vt:vector>
  </HeadingPairs>
  <TitlesOfParts>
    <vt:vector size="270" baseType="lpstr">
      <vt:lpstr>Arial</vt:lpstr>
      <vt:lpstr>Calibri</vt:lpstr>
      <vt:lpstr>Consolas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lucasmarcos</cp:lastModifiedBy>
  <cp:revision>78</cp:revision>
  <dcterms:created xsi:type="dcterms:W3CDTF">2013-01-27T09:14:16Z</dcterms:created>
  <dcterms:modified xsi:type="dcterms:W3CDTF">2026-08-11T22:33:55Z</dcterms:modified>
  <cp:category/>
</cp:coreProperties>
</file>